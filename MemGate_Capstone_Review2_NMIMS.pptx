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2194560" cy="381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508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111111"/>
                </a:solidFill>
                <a:latin typeface="Times New Roman"/>
              </a:rPr>
              <a:t>MemGate</a:t>
            </a:r>
          </a:p>
          <a:p>
            <a:pPr>
              <a:spcBef>
                <a:spcPts val="600"/>
              </a:spcBef>
            </a:pPr>
            <a:r>
              <a:rPr sz="4000" b="0" i="0">
                <a:solidFill>
                  <a:srgbClr val="1A1A1A"/>
                </a:solidFill>
                <a:latin typeface="Times New Roman"/>
              </a:rPr>
              <a:t>What to keep, what to forget</a:t>
            </a:r>
          </a:p>
          <a:p>
            <a:pPr>
              <a:spcBef>
                <a:spcPts val="1400"/>
              </a:spcBef>
            </a:pPr>
            <a:r>
              <a:rPr sz="2500" b="0" i="1">
                <a:solidFill>
                  <a:srgbClr val="5A5A5A"/>
                </a:solidFill>
                <a:latin typeface="Times New Roman"/>
              </a:rPr>
              <a:t>A measured study of the memory decision policy for long-running LLM agents, under a bounded store</a:t>
            </a:r>
          </a:p>
          <a:p>
            <a:pPr>
              <a:spcBef>
                <a:spcPts val="3400"/>
              </a:spcBef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Simar Singh Khanuja</a:t>
            </a:r>
            <a:r>
              <a:rPr sz="2600" b="0" i="0">
                <a:solidFill>
                  <a:srgbClr val="5A5A5A"/>
                </a:solidFill>
                <a:latin typeface="Times New Roman"/>
              </a:rPr>
              <a:t> — 70562200088</a:t>
            </a:r>
          </a:p>
          <a:p>
            <a:r>
              <a:rPr sz="2600" b="0" i="0">
                <a:solidFill>
                  <a:srgbClr val="1A1A1A"/>
                </a:solidFill>
                <a:latin typeface="Times New Roman"/>
              </a:rPr>
              <a:t>Yash Ramchandani</a:t>
            </a:r>
            <a:r>
              <a:rPr sz="2600" b="0" i="0">
                <a:solidFill>
                  <a:srgbClr val="5A5A5A"/>
                </a:solidFill>
                <a:latin typeface="Times New Roman"/>
              </a:rPr>
              <a:t> — 70562300097</a:t>
            </a:r>
          </a:p>
          <a:p>
            <a:pPr>
              <a:spcBef>
                <a:spcPts val="2000"/>
              </a:spcBef>
            </a:pPr>
            <a:r>
              <a:rPr sz="2400" b="0" i="0">
                <a:solidFill>
                  <a:srgbClr val="5A5A5A"/>
                </a:solidFill>
                <a:latin typeface="Times New Roman"/>
              </a:rPr>
              <a:t>SVKM’s NMIMS, Indore Campus</a:t>
            </a:r>
          </a:p>
          <a:p>
            <a:r>
              <a:rPr sz="2400" b="0" i="0">
                <a:solidFill>
                  <a:srgbClr val="5A5A5A"/>
                </a:solidFill>
                <a:latin typeface="Times New Roman"/>
              </a:rPr>
              <a:t>Capstone Project  ·  Progress review,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Where the project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Eleven experiments run end to end; every claim carries a clustered confidence interval. The last of them put the headline itself to the test.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5705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2194560"/>
                <a:gridCol w="7132320"/>
              </a:tblGrid>
              <a:tr h="475488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Workstream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State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Evidence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Harness, three-tier store, policies P0 / P1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memgate/ — ~6,500 lines of Python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LoCoMo wired; the evaluation leak removed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3 label-blindness regression tests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Ablation study — 23 configurations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results/ablations_2048.csv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Storage budget — the corrected accounting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35 configurations swept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Significance: bootstrap + exact McNemar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clustered by conversation, B = 10,000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Scaling to 182× · byte accounting · learned scorer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three separate sweeps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P2 LLM judge — built and evaluated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single-component swap, with CIs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End-task accuracy through a real reader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full 715-question run; results/endtask.csv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LongMemEval — the headline tested on a second benchmark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94 haystacks; it does not replicate, and we know why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IEEE paper — compiled, cut to 6 pages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paper/main.pdf, 19/19 citations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Abstractive compression · online learning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Pilot only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1 and 2 conversations — intervals not yet quotable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8503920"/>
            <a:ext cx="64008" cy="12344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8503920"/>
            <a:ext cx="16578072" cy="12344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8595360"/>
            <a:ext cx="1600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00" b="0" i="0">
                <a:solidFill>
                  <a:srgbClr val="1A1A1A"/>
                </a:solidFill>
                <a:latin typeface="Times New Roman"/>
              </a:rPr>
              <a:t>The headline: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+8.7 answer-recall points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 for choosing which turns to forget, over forgetting oldest-first — at identical storage, fidelity and retrieval. On a second benchmark it does not hold, and the cause is the scorer rather than the mechanism (slides 18–19).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First: a Review 1 number is withdrawn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Raised here rather than left for the panel to find.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1927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A1A1A"/>
                </a:solidFill>
                <a:latin typeface="Times New Roman"/>
              </a:rPr>
              <a:t>The Review 1 deck reported 95% recall for MemGate against 10% for a sliding window. </a:t>
            </a:r>
            <a:r>
              <a:rPr sz="2400" b="0" i="0">
                <a:solidFill>
                  <a:srgbClr val="1A1A1A"/>
                </a:solidFill>
                <a:latin typeface="Times New Roman"/>
              </a:rPr>
              <a:t>That number was inflated by an evaluation leak.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A1A1A"/>
                </a:solidFill>
                <a:latin typeface="Times New Roman"/>
              </a:rPr>
              <a:t>The leak. </a:t>
            </a:r>
            <a:r>
              <a:rPr sz="2400" b="0" i="0">
                <a:solidFill>
                  <a:srgbClr val="1A1A1A"/>
                </a:solidFill>
                <a:latin typeface="Times New Roman"/>
              </a:rPr>
              <a:t>The memory policy was reading fact_id — the ground-truth answer key — when deciding what to keep. It was worth 45–47 recall points.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4251960"/>
          <a:ext cx="166420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6480"/>
                <a:gridCol w="4622800"/>
                <a:gridCol w="4622800"/>
              </a:tblGrid>
              <a:tr h="518160">
                <a:tc>
                  <a:txBody>
                    <a:bodyPr/>
                    <a:lstStyle/>
                    <a:p>
                      <a:r>
                        <a:rPr sz="2200" b="1" i="0">
                          <a:solidFill>
                            <a:srgbClr val="111111"/>
                          </a:solidFill>
                          <a:latin typeface="Times New Roman"/>
                        </a:rPr>
                        <a:t>Synthetic set @ 800 tokens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200" b="1" i="0">
                          <a:solidFill>
                            <a:srgbClr val="111111"/>
                          </a:solidFill>
                          <a:latin typeface="Times New Roman"/>
                        </a:rPr>
                        <a:t>As presented at Review 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200" b="1" i="0">
                          <a:solidFill>
                            <a:srgbClr val="111111"/>
                          </a:solidFill>
                          <a:latin typeface="Times New Roman"/>
                        </a:rPr>
                        <a:t>Honest</a:t>
                      </a:r>
                    </a:p>
                  </a:txBody>
                  <a:tcPr anchor="ctr" marL="128016" marR="91440" marT="27432" marB="27432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2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 i="0">
                          <a:solidFill>
                            <a:srgbClr val="1A1A1A"/>
                          </a:solidFill>
                          <a:latin typeface="Times New Roman"/>
                        </a:rPr>
                        <a:t>95.0%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200" b="1" i="0">
                          <a:solidFill>
                            <a:srgbClr val="C1272D"/>
                          </a:solidFill>
                          <a:latin typeface="Times New Roman"/>
                        </a:rPr>
                        <a:t>50.0%</a:t>
                      </a:r>
                    </a:p>
                  </a:txBody>
                  <a:tcPr anchor="ctr" marL="128016" marR="91440" marT="27432" marB="27432"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22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 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10.0%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126480"/>
            <a:ext cx="16642080" cy="186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fix is a test, not a comment.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Strip every evaluation label from the input and the store must come out bit-identical. Each decision point added since — eviction under a storage budget, and demotion — was added to that test before any number from it was quoted.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Everything after this slide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is measured on a real benchmark, leak-free.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8732520"/>
            <a:ext cx="64008" cy="960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732520"/>
            <a:ext cx="16578072" cy="96012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823960"/>
            <a:ext cx="1600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WHY IT LEADS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 withdrawn result the students raise is worth more than one the panel discovers.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A 200K-token context window did not solve agent memory; it relocated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3318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Context rot.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Chroma Research (2025) tested 18 frontier models: accuracy degrades 30–50% well before the documented context limit. It is a property of attention, not a training gap — so larger windows do not fix it. Curation does.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Cost and latency.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On LoCoMo, full context is ~26,000 tokens and 9.87 s median latency; selective memory reaches similar accuracy at ~1,800 tokens and 0.71 s — roughly 14× cheaper.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The measurable gap.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On LongMemEval, oracle retrieval scores ~92% where the same model interactively scores ~58%. That 34-point gap is memory selection failure, not reasoning failure.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092440"/>
            <a:ext cx="64008" cy="1371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8092440"/>
            <a:ext cx="16578072" cy="13716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8183879"/>
            <a:ext cx="16002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WHERE THE GAP IS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open problem, named in a 2026 review: current systems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“do not solve the fundamental challenge: deciding what to remember and what to forget.”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question, and what is new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12848"/>
            <a:ext cx="64008" cy="1371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2212848"/>
            <a:ext cx="16578072" cy="13716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304288"/>
            <a:ext cx="16002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100" b="1" i="0">
                <a:solidFill>
                  <a:srgbClr val="C1272D"/>
                </a:solidFill>
                <a:latin typeface="Times New Roman"/>
              </a:rPr>
              <a:t>RESEARCH QUESTION   </a:t>
            </a:r>
            <a:r>
              <a:rPr sz="2700" b="0" i="0">
                <a:solidFill>
                  <a:srgbClr val="1A1A1A"/>
                </a:solidFill>
                <a:latin typeface="Times New Roman"/>
              </a:rPr>
              <a:t>How much of the memory-selection gap can a better decision policy recover, and under what budget does compression pay for itself?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50208"/>
            <a:ext cx="16642080" cy="2822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A1A1A"/>
                </a:solidFill>
                <a:latin typeface="Times New Roman"/>
              </a:rPr>
              <a:t>Tiered memory with forgetting is already shipped. </a:t>
            </a:r>
            <a:r>
              <a:rPr sz="2400" b="0" i="0">
                <a:solidFill>
                  <a:srgbClr val="1A1A1A"/>
                </a:solidFill>
                <a:latin typeface="Times New Roman"/>
              </a:rPr>
              <a:t>Letta/MemGPT, Mem0 and Zep all ship it. Presented as “a memory layer with three tiers”, this work would already be done.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A1A1A"/>
                </a:solidFill>
                <a:latin typeface="Times New Roman"/>
              </a:rPr>
              <a:t>What is not done is the decision itself. </a:t>
            </a:r>
            <a:r>
              <a:rPr sz="2400" b="0" i="0">
                <a:solidFill>
                  <a:srgbClr val="1A1A1A"/>
                </a:solidFill>
                <a:latin typeface="Times New Roman"/>
              </a:rPr>
              <a:t>Colaco &amp; Lahjouji (2026) frame every such decision as one rate–distortion problem — what to retain, at what fidelity, under a budget — but supply a framework, not a system.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4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400" b="1" i="0">
                <a:solidFill>
                  <a:srgbClr val="1A1A1A"/>
                </a:solidFill>
                <a:latin typeface="Times New Roman"/>
              </a:rPr>
              <a:t>MemGate is the harness that makes the decision measurable. </a:t>
            </a:r>
            <a:r>
              <a:rPr sz="2400" b="0" i="0">
                <a:solidFill>
                  <a:srgbClr val="1A1A1A"/>
                </a:solidFill>
                <a:latin typeface="Times New Roman"/>
              </a:rPr>
              <a:t>Policy-agnostic: competing policies are placed on one accuracy-per-token frontier, with each comparison constructed so that exactly one variable moves.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8732520"/>
            <a:ext cx="64008" cy="960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732520"/>
            <a:ext cx="16578072" cy="96012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823960"/>
            <a:ext cx="1600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STATED PLAINLY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contribution is a measurement, and several of its results are negative.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MemGate wraps a frozen LLM and controls what enters the prompt. Nothing is trained.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664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Times New Roman"/>
              </a:rPr>
              <a:t>WRITE PATH — what to keep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26080"/>
            <a:ext cx="2651760" cy="91440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>incoming 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2788920"/>
            <a:ext cx="3566160" cy="1188720"/>
          </a:xfrm>
          <a:prstGeom prst="roundRect">
            <a:avLst/>
          </a:prstGeom>
          <a:solidFill>
            <a:srgbClr val="F7E7E8"/>
          </a:solidFill>
          <a:ln w="12700">
            <a:solidFill>
              <a:srgbClr val="C12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 i="0">
                <a:solidFill>
                  <a:srgbClr val="1A1A1A"/>
                </a:solidFill>
                <a:latin typeface="Times New Roman"/>
              </a:rPr>
              <a:t>Adaptive Memory Decision Engine</a:t>
            </a:r>
          </a:p>
          <a:p>
            <a:pPr algn="ctr"/>
            <a:r>
              <a:rPr sz="1400" b="0" i="0">
                <a:solidFill>
                  <a:srgbClr val="5A5A5A"/>
                </a:solidFill>
                <a:latin typeface="Times New Roman"/>
              </a:rPr>
              <a:t>scores each item exactly once, on eviction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3383280"/>
            <a:ext cx="41148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01000" y="2423160"/>
            <a:ext cx="4206240" cy="621792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0" i="0">
                <a:solidFill>
                  <a:srgbClr val="1A1A1A"/>
                </a:solidFill>
                <a:latin typeface="Times New Roman"/>
              </a:rPr>
              <a:t>u ≥ τ_fact   →   Tier 3   durable fact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452360" y="2734056"/>
            <a:ext cx="548640" cy="649224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01000" y="3154680"/>
            <a:ext cx="4206240" cy="621792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0" i="0">
                <a:solidFill>
                  <a:srgbClr val="1A1A1A"/>
                </a:solidFill>
                <a:latin typeface="Times New Roman"/>
              </a:rPr>
              <a:t>u ≥ τ_low    →   Tier 2   compressed gist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52360" y="3383280"/>
            <a:ext cx="548640" cy="82296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01000" y="3886200"/>
            <a:ext cx="4206240" cy="621792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0" i="0">
                <a:solidFill>
                  <a:srgbClr val="1A1A1A"/>
                </a:solidFill>
                <a:latin typeface="Times New Roman"/>
              </a:rPr>
              <a:t>otherwise    →   dropped from context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52360" y="3383280"/>
            <a:ext cx="548640" cy="813816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710160" y="2606040"/>
            <a:ext cx="4663440" cy="2377440"/>
          </a:xfrm>
          <a:prstGeom prst="roundRect">
            <a:avLst/>
          </a:prstGeom>
          <a:solidFill>
            <a:srgbClr val="FAFA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47320" y="2596896"/>
            <a:ext cx="3657600" cy="34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Times New Roman"/>
              </a:rPr>
              <a:t>TIERED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93040" y="3063240"/>
            <a:ext cx="4297680" cy="54864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Tier 1  short-term   raw verbatim turns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93040" y="3721608"/>
            <a:ext cx="4297680" cy="54864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Tier 2  working      compressed gists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93040" y="4379976"/>
            <a:ext cx="4297680" cy="54864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0" i="0">
                <a:solidFill>
                  <a:srgbClr val="1A1A1A"/>
                </a:solidFill>
                <a:latin typeface="Times New Roman"/>
              </a:rPr>
              <a:t>Tier 3  long-term    facts + vectors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207240" y="2734056"/>
            <a:ext cx="685800" cy="603504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207240" y="3465576"/>
            <a:ext cx="685800" cy="530352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207240" y="4197096"/>
            <a:ext cx="685800" cy="45720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22960" y="5760720"/>
            <a:ext cx="16642080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852160"/>
            <a:ext cx="1664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Times New Roman"/>
              </a:rPr>
              <a:t>READ PATH — what to recall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6400800"/>
            <a:ext cx="2377440" cy="91440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>new query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6400800"/>
            <a:ext cx="3108960" cy="91440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>retrieve</a:t>
            </a:r>
          </a:p>
          <a:p>
            <a:pPr algn="ctr"/>
            <a:r>
              <a:rPr sz="1400" b="0" i="0">
                <a:solidFill>
                  <a:srgbClr val="5A5A5A"/>
                </a:solidFill>
                <a:latin typeface="Times New Roman"/>
              </a:rPr>
              <a:t>semantic match over tier 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00400" y="685800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040880" y="6400800"/>
            <a:ext cx="3931920" cy="91440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>assemble context</a:t>
            </a:r>
          </a:p>
          <a:p>
            <a:pPr algn="ctr"/>
            <a:r>
              <a:rPr sz="1400" b="0" i="0">
                <a:solidFill>
                  <a:srgbClr val="5A5A5A"/>
                </a:solidFill>
                <a:latin typeface="Times New Roman"/>
              </a:rPr>
              <a:t>packs to the token budget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75120" y="685800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338560" y="6400800"/>
            <a:ext cx="2834640" cy="914400"/>
          </a:xfrm>
          <a:prstGeom prst="roundRect">
            <a:avLst/>
          </a:prstGeom>
          <a:solidFill>
            <a:srgbClr val="EAEAE8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 i="0">
                <a:solidFill>
                  <a:srgbClr val="1A1A1A"/>
                </a:solidFill>
                <a:latin typeface="Times New Roman"/>
              </a:rPr>
              <a:t>FROZEN LLM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972800" y="685800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4538960" y="6400800"/>
            <a:ext cx="2377440" cy="914400"/>
          </a:xfrm>
          <a:prstGeom prst="roundRect">
            <a:avLst/>
          </a:prstGeom>
          <a:solidFill>
            <a:srgbClr val="F2F2F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0" i="0">
                <a:solidFill>
                  <a:srgbClr val="1A1A1A"/>
                </a:solidFill>
                <a:latin typeface="Times New Roman"/>
              </a:rPr>
              <a:t>response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173200" y="685800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22960" y="8823960"/>
            <a:ext cx="64008" cy="9144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" y="8823960"/>
            <a:ext cx="16578072" cy="9144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" y="8915400"/>
            <a:ext cx="1600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00" b="0" i="0">
                <a:solidFill>
                  <a:srgbClr val="1A1A1A"/>
                </a:solidFill>
                <a:latin typeface="Times New Roman"/>
              </a:rPr>
              <a:t>Tiers are a lifecycle, not a partition: everything enters Tier 1, and the routing decision happens once — on eviction, when the budget binds.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Policies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Each comparison is built so that exactly one variable moves.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7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576"/>
                <a:gridCol w="4473677"/>
                <a:gridCol w="6710516"/>
                <a:gridCol w="4026309"/>
              </a:tblGrid>
              <a:tr h="40640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Policy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Retention rule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Fidelity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Sliding 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recency, budget-driven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verbatim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Store-all + retrieve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FIFO — the no-policy control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verbatim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MemGate threshold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scored at ingest, τ-routed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compressed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P1-A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score orders eviction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compress on eviction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P1-S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score orders eviction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drop on eviction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LLM-judged salience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Qwen2.5-0.5B rates each turn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drop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P3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Learned scorer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fitted, cross-validated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drop</a:t>
                      </a:r>
                    </a:p>
                  </a:txBody>
                  <a:tcPr anchor="ctr" marL="128016" marR="91440" marT="27432" marB="27432"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Oracle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perfect selection (upper bound)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verbatim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6537960"/>
          <a:ext cx="1664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943600"/>
                <a:gridCol w="6583680"/>
              </a:tblGrid>
              <a:tr h="45720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Comparison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Held constant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The one thing that varies</a:t>
                      </a:r>
                    </a:p>
                  </a:txBody>
                  <a:tcPr anchor="ctr" marL="128016" marR="91440"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 vs  RAG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retention, storage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read path — recency vs retrieval</a:t>
                      </a:r>
                    </a:p>
                  </a:txBody>
                  <a:tcPr anchor="ctr" marL="128016" marR="91440"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 vs  P1-S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storage, fidelity, retrieval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which turns are forgotten</a:t>
                      </a:r>
                    </a:p>
                  </a:txBody>
                  <a:tcPr anchor="ctr" marL="128016" marR="91440"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 vs  P1-A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storage, selection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fidelity — drop vs compress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8869680"/>
            <a:ext cx="64008" cy="9144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8869680"/>
            <a:ext cx="16578072" cy="9144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8961119"/>
            <a:ext cx="1600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00" b="0" i="0">
                <a:solidFill>
                  <a:srgbClr val="1A1A1A"/>
                </a:solidFill>
                <a:latin typeface="Times New Roman"/>
              </a:rPr>
              <a:t>P0 is given the same token budget as MemGate, so the only difference is which turns are chosen — never how many tokens may be spent. A fixed small window would be a strawman.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Two metrics, and why both are reported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6642080" cy="251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Evidence (strict) recall.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Every gold evidence turn reached the context. A multi-hop question cites up to 19 turns, and 18 of 19 answers nothing.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Answer recall.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The answer text itself survived, scored over the 715 questions whose answer is recoverable from the evidence text. This is the metric to believe.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5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500" b="1" i="0">
                <a:solidFill>
                  <a:srgbClr val="1A1A1A"/>
                </a:solidFill>
                <a:latin typeface="Times New Roman"/>
              </a:rPr>
              <a:t>Stored tokens / bytes. </a:t>
            </a:r>
            <a:r>
              <a:rPr sz="2500" b="0" i="0">
                <a:solidFill>
                  <a:srgbClr val="1A1A1A"/>
                </a:solidFill>
                <a:latin typeface="Times New Roman"/>
              </a:rPr>
              <a:t>What the policy still holds, as opposed to what it spends per query.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13248"/>
            <a:ext cx="64008" cy="12344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" y="5413248"/>
            <a:ext cx="16578072" cy="12344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5504688"/>
            <a:ext cx="1600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WHY TWO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Reporting both is essential rather than decorative: the two metrics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disagree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 on exactly the comparison this project is about, and the disagreement is the finding.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922008"/>
            <a:ext cx="16642080" cy="186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Evidence recall credits a pointer.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 compressed gist keeps the evidence id of a turn whose text it has thrown away, and scores a hit with none of the answer behind it.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Answer recall checks the content.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During the consolidation work, evidence recall rose 8.1% → 14.8% while answer recall stayed pinned at 12.8%. The entire gain was bookkeeping.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Deterministic, offline, and free to re-run on every change.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498080"/>
                <a:gridCol w="6217920"/>
              </a:tblGrid>
              <a:tr h="475488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Element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Choice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111111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Benchmark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LoCoMo — 10 conversations, 5,882 turns, 1,527 scoreable questions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Real multi-session dialogue with gold evidence ids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Excluded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Adversarial items (category 5)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They carry evidence, but the correct behaviour is to decline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Embedder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all-MiniLM-L6-v2, 384-d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Retrieval ranking and semantic supersession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Tokenizer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tiktoken cl100k_base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Budgets are exact tokens, not a word-count proxy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P2 judge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Qwen2.5-0.5B-Instruct, run locally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One forward pass per turn, logit-expectation scored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Reader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Qwen2.5-1.5B-Instruct-4bit, greedy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Held fixed across arms, so any difference is the policy</a:t>
                      </a:r>
                    </a:p>
                  </a:txBody>
                  <a:tcPr anchor="ctr" marL="128016" marR="91440"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Statistics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Paired bootstrap B = 10,000 + exact McNemar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8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Resampled by conversation, not by question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8686800"/>
            <a:ext cx="64008" cy="10058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8686800"/>
            <a:ext cx="16578072" cy="10058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8778240"/>
            <a:ext cx="1600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THE ONE STATISTICAL POINT THAT MATTERS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1,527 questions drawn from 10 conversations are not 1,527 independent trials. Every interval in this deck is clustered at the conversation level.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Storage was never budgeted — and that determined the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8229600" cy="3462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Every experiment in this literature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caps the context assembled per query and leaves the store unbounded. So does every experiment of ours before this point.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Under that accounting,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“keep everything and retrieve top-k” is charged nothing for holding all 419 turns of a conversation — so forgetting can only ever lose information.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Our own ablation duly reported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compression machinery as a net loss against keeping everything. It was right to.</a:t>
            </a:r>
          </a:p>
        </p:txBody>
      </p:sp>
      <p:pic>
        <p:nvPicPr>
          <p:cNvPr id="5" name="Picture 4" descr="fig1_storage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532888"/>
            <a:ext cx="7772400" cy="3510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92640" y="632764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Times New Roman"/>
              </a:rPr>
              <a:t>Fig. 1 — the storage-token frontier. Context pinned at 2048; the store swept.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7909560"/>
            <a:ext cx="64008" cy="1371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7909560"/>
            <a:ext cx="16578072" cy="13716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8001000"/>
            <a:ext cx="16002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000" b="1" i="0">
                <a:solidFill>
                  <a:srgbClr val="C1272D"/>
                </a:solidFill>
                <a:latin typeface="Times New Roman"/>
              </a:rPr>
              <a:t>THE CORRECTION   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>Imposing a storage budget S changes the question from </a:t>
            </a:r>
            <a:r>
              <a:rPr sz="2600" b="1" i="0">
                <a:solidFill>
                  <a:srgbClr val="1A1A1A"/>
                </a:solidFill>
                <a:latin typeface="Times New Roman"/>
              </a:rPr>
              <a:t>“what fits in context?”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> to </a:t>
            </a:r>
            <a:r>
              <a:rPr sz="2600" b="1" i="0">
                <a:solidFill>
                  <a:srgbClr val="1A1A1A"/>
                </a:solidFill>
                <a:latin typeface="Times New Roman"/>
              </a:rPr>
              <a:t>“what is worth keeping at all?”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372600"/>
            <a:ext cx="16642080" cy="41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A5A5A"/>
                </a:solidFill>
                <a:latin typeface="Times New Roman"/>
              </a:rPr>
              <a:t>Under the corrected accounting the ranking inverts: what looked like a loss for the decision policy was an artefact of never charging for the store.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Selection pays; compression does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Context budget fixed at 2048 tokens. Storage budget swept. Answer recall.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7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257"/>
                <a:gridCol w="3396342"/>
                <a:gridCol w="4415245"/>
                <a:gridCol w="3735977"/>
                <a:gridCol w="2547257"/>
              </a:tblGrid>
              <a:tr h="548640"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S (tokens)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P1-A adaptive (compress)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P1-S select (drop)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P1-S − RAG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15.7%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+6.6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26.3%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+8.0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36.8%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+8.7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44.3%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37.5%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48.2%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+3.9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66.4%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66.4%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72.3%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+5.9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172200"/>
            <a:ext cx="16642080" cy="1368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two metrics disagree, and that is the result.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P1-A wins evidence recall (+12.9 at S = 8192) while losing answer recall (−6.9). A demoted gist keeps the evidence ids of a turn whose text it discarded. Reporting only evidence recall would have shown compression winning.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321040"/>
            <a:ext cx="64008" cy="13716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8321040"/>
            <a:ext cx="16578072" cy="13716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8412480"/>
            <a:ext cx="16002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THE CLEANEST COMPARISON IN THE PROJECT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RAG and P1-S hold the same verbatim turns, in the same space, retrieved the same way, and differ in one respect only: which turns they forget when the cap binds. RAG forgets oldest-first; P1-S forgets lowest-utility-first.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What survives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Paired bootstrap, B = 10,000, resampled by conversation · exact McNemar · S = 4096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78" cy="3931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8749"/>
                <a:gridCol w="2689629"/>
                <a:gridCol w="1849120"/>
                <a:gridCol w="3025832"/>
                <a:gridCol w="2017221"/>
                <a:gridCol w="2521527"/>
              </a:tblGrid>
              <a:tr h="561702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Comparison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Δ points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95% CI (clustered)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McNemar p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Verdict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P1-S select  vs  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+8.67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[+4.77, +14.27]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1.1×10⁻4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significant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select  vs  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+1.96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[-1.48, +5.52]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0.16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5A5A5A"/>
                          </a:solidFill>
                          <a:latin typeface="Times New Roman"/>
                        </a:rPr>
                        <a:t>not significant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select  vs  P1-A compress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+6.71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[+4.24, +9.54]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3.6×10⁻5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significant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select  vs  P1-A compress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-10.74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[-13.65, -7.90]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4.7×10⁻20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significant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select  vs  P0 recency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+18.46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[+14.68, +23.56]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3.8×10⁻17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significant</a:t>
                      </a:r>
                    </a:p>
                  </a:txBody>
                  <a:tcPr anchor="ctr" marL="128016" marR="91440" marT="27432" marB="27432"/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select  vs  P0 recency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+9.69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[+6.85, +12.83]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3.6×10⁻14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significant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6858000"/>
            <a:ext cx="64008" cy="12344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6858000"/>
            <a:ext cx="16578072" cy="12344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6949440"/>
            <a:ext cx="1600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REPORTED AS IT STANDS 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We do not claim an evidence-recall improvement over RAG.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 +1.96 points does not survive clustering (p = 0.16). The answer-recall claim, +8.67 with the interval clear of zero,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9628632"/>
            <a:ext cx="1664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5A5A"/>
                </a:solidFill>
                <a:latin typeface="Times New Roman"/>
              </a:rPr>
              <a:t>A claim reported as not significant is a claim the panel does not have to find.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rate–distortion prediction fails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Theory says compression must eventually win. It does not, anywhere we can 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186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Sweeping S downward cannot test it.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By S = 256 every policy sits at ~0.2% evidence recall — below the floor where anything works.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missing axis is length.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We concatenate up to 10 LoCoMo conversations (186K tokens) and hold S fixed, so the compression ratio rises to 182×.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4617720"/>
          <a:ext cx="1005839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085"/>
                <a:gridCol w="2155371"/>
                <a:gridCol w="2754085"/>
                <a:gridCol w="2394857"/>
              </a:tblGrid>
              <a:tr h="530352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Compression ratio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RAG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P1-A (compress)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P1-S (drop)</a:t>
                      </a:r>
                    </a:p>
                  </a:txBody>
                  <a:tcPr anchor="ctr" marL="128016" marR="91440" marT="27432" marB="27432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9×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26.3%</a:t>
                      </a:r>
                    </a:p>
                  </a:txBody>
                  <a:tcPr anchor="ctr" marL="128016" marR="91440" marT="27432" marB="27432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18×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18.2%</a:t>
                      </a:r>
                    </a:p>
                  </a:txBody>
                  <a:tcPr anchor="ctr" marL="128016" marR="91440" marT="27432" marB="27432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45×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7.8%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11.2%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11.7%</a:t>
                      </a:r>
                    </a:p>
                  </a:txBody>
                  <a:tcPr anchor="ctr" marL="128016" marR="91440" marT="27432" marB="27432"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91×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6.0%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8.7%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pic>
        <p:nvPicPr>
          <p:cNvPr id="7" name="Picture 6" descr="fig2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4617720"/>
            <a:ext cx="4141868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8138160"/>
            <a:ext cx="64008" cy="105156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138160"/>
            <a:ext cx="16578072" cy="105156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229600"/>
            <a:ext cx="16002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RESULT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No crossover to 182×, and the selection margin over RAG widens with pressure. At LoCoMo scale the optimum sits at the vertex: a subset at full fidelity beats everything at reduced fidelity.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9326880"/>
            <a:ext cx="1664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Times New Roman"/>
              </a:rPr>
              <a:t>Caveat: a concatenated stream is not a natural long conversation — each question concerns one constituent conversation, so the others act as distractors. It is a stress test of retention under pressure, not a long-dialogue benchmark.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index is not free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Storage denominated in text tokens silently gives the embedding index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100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A 384-d float32 vector is 1,536 bytes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against a turn’s ~130 bytes of text. The index outweighs the content ~12×, and the binding cost becomes the number of items, not their length.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3794760"/>
          <a:ext cx="987551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247"/>
                <a:gridCol w="3069418"/>
                <a:gridCol w="2402153"/>
                <a:gridCol w="2268700"/>
              </a:tblGrid>
              <a:tr h="525780"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Budget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P0 (keeps no index)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P1-S select</a:t>
                      </a:r>
                    </a:p>
                  </a:txBody>
                  <a:tcPr anchor="ctr" marL="128016" marR="91440" marT="27432" marB="27432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32 KiB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15.1%</a:t>
                      </a:r>
                    </a:p>
                  </a:txBody>
                  <a:tcPr anchor="ctr" marL="128016" marR="91440" marT="27432" marB="27432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64 KiB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22.5%</a:t>
                      </a:r>
                    </a:p>
                  </a:txBody>
                  <a:tcPr anchor="ctr" marL="128016" marR="91440" marT="27432" marB="27432"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256 KiB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33.0%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39.0%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pic>
        <p:nvPicPr>
          <p:cNvPr id="7" name="Picture 6" descr="fig4_cos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703320"/>
            <a:ext cx="4936576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8138160"/>
            <a:ext cx="64008" cy="14630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138160"/>
            <a:ext cx="16578072" cy="14630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229600"/>
            <a:ext cx="16002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00" b="1" i="0">
                <a:solidFill>
                  <a:srgbClr val="1A1A1A"/>
                </a:solidFill>
                <a:latin typeface="Times New Roman"/>
              </a:rPr>
              <a:t>Two results.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selection finding is unit-robust — it holds when the budget is counted in bytes. And below ~40 KiB an embedding index cannot earn its own storage: plain recency, which keeps no vectors at all, wins outright. That regime is invisible when the budget counts text alone.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scorer is the bottleneck — and it is learnable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12848"/>
          <a:ext cx="9509759" cy="329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946"/>
                <a:gridCol w="2993813"/>
              </a:tblGrid>
              <a:tr h="470262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Component removed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Δ evidence recall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retrieval (tier 3)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-30.32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demotion on pressure   (but answer recall +6.7)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-10.74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scored eviction (FIFO)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-4.98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informative compressor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-3.8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consolidation merge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-2.55</a:t>
                      </a:r>
                    </a:p>
                  </a:txBody>
                  <a:tcPr anchor="ctr" marL="128016" marR="91440" marT="27432" marB="27432"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supersession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-0.2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5870448"/>
          <a:ext cx="9509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828800"/>
                <a:gridCol w="2011680"/>
              </a:tblGrid>
              <a:tr h="48006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Scorer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AUC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heuristic (hand-tuned)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26.3%</a:t>
                      </a:r>
                    </a:p>
                  </a:txBody>
                  <a:tcPr anchor="ctr" marL="128016" marR="91440" marT="27432" marB="27432"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P3 learned, hand features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0.746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27.7%</a:t>
                      </a:r>
                    </a:p>
                  </a:txBody>
                  <a:tcPr anchor="ctr" marL="128016" marR="91440" marT="27432" marB="27432"/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P3 learned, + MiniLM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0.793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31.5%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pic>
        <p:nvPicPr>
          <p:cNvPr id="6" name="Picture 5" descr="fig3_sc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395728"/>
            <a:ext cx="5797566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7927848"/>
            <a:ext cx="9509760" cy="401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Times New Roman"/>
              </a:rPr>
              <a:t>Leave-one-conversation-out: the model scoring a conversation never saw it in 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8732520"/>
            <a:ext cx="64008" cy="9601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732520"/>
            <a:ext cx="16578072" cy="96012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823960"/>
            <a:ext cx="1600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WHAT THE MODEL LEARNED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fitted weights say something the heuristic never encoded: turn length is the strongest single predictor of evidence-worthiness — ahead of every hand-designed cue.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An LLM judge is the wrong instrument for salience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A single-component swap: policy, storage, retrieval and compression pinned at the winner — only the scorer varies, so anything that moves is the scorer.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0780"/>
                <a:gridCol w="2253615"/>
                <a:gridCol w="2253615"/>
                <a:gridCol w="2253615"/>
                <a:gridCol w="3640455"/>
              </a:tblGrid>
              <a:tr h="548640"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Scorer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Evidence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Answer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Δ vs P1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1" i="0">
                          <a:solidFill>
                            <a:srgbClr val="111111"/>
                          </a:solidFill>
                          <a:latin typeface="Times New Roman"/>
                        </a:rPr>
                        <a:t>95% CI (clustered)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 recency — no content judgement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12.6%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25.6%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-11.19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[-17.24, -6.19]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P1  heuristic — regex + shallow NER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1" i="0">
                          <a:solidFill>
                            <a:srgbClr val="C1272D"/>
                          </a:solidFill>
                          <a:latin typeface="Times New Roman"/>
                        </a:rPr>
                        <a:t>36.8%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P2  LLM judge — Qwen2.5-0.5B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-5.87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[-10.77, -1.76]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P3  learned — LOCO, a bound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33.4%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+11.47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100" b="0" i="0">
                          <a:solidFill>
                            <a:srgbClr val="1A1A1A"/>
                          </a:solidFill>
                          <a:latin typeface="Times New Roman"/>
                        </a:rPr>
                        <a:t>[+4.90, +17.86]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623560"/>
            <a:ext cx="16642080" cy="263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200" b="1" i="0">
                <a:solidFill>
                  <a:srgbClr val="1A1A1A"/>
                </a:solidFill>
                <a:latin typeface="Times New Roman"/>
              </a:rPr>
              <a:t>Scoring at all is load-bearing. </a:t>
            </a:r>
            <a:r>
              <a:rPr sz="2200" b="0" i="0">
                <a:solidFill>
                  <a:srgbClr val="1A1A1A"/>
                </a:solidFill>
                <a:latin typeface="Times New Roman"/>
              </a:rPr>
              <a:t>+11.19 points over unscored recency — without this row the rest of the table would not be worth reading.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200" b="1" i="0">
                <a:solidFill>
                  <a:srgbClr val="1A1A1A"/>
                </a:solidFill>
                <a:latin typeface="Times New Roman"/>
              </a:rPr>
              <a:t>The judge fails at it anyway. </a:t>
            </a:r>
            <a:r>
              <a:rPr sz="2200" b="0" i="0">
                <a:solidFill>
                  <a:srgbClr val="1A1A1A"/>
                </a:solidFill>
                <a:latin typeface="Times New Roman"/>
              </a:rPr>
              <a:t>It loses to the regex by 5.87 points and the interval excludes zero, for ~15 minutes of GPU per corpus against microseconds.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2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200" b="1" i="0">
                <a:solidFill>
                  <a:srgbClr val="1A1A1A"/>
                </a:solidFill>
                <a:latin typeface="Times New Roman"/>
              </a:rPr>
              <a:t>The headroom is real. </a:t>
            </a:r>
            <a:r>
              <a:rPr sz="2200" b="0" i="0">
                <a:solidFill>
                  <a:srgbClr val="1A1A1A"/>
                </a:solidFill>
                <a:latin typeface="Times New Roman"/>
              </a:rPr>
              <a:t>+11.47 to the learned bound, so P2 was not defeated by a missing ceiling. The ceiling it failed to reach genuinely exists.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503920"/>
            <a:ext cx="64008" cy="118872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8503920"/>
            <a:ext cx="16578072" cy="118872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8595360"/>
            <a:ext cx="16002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WHY IT LOSES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diagnosis is what the judge is shown: it rates each turn in isolation, and salience is not a property of a turn on its own. A phone number matters because something later asks for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End-task accuracy — the gap survives a real reader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Every number so far is context recall: did the evidence reach the prompt? That is the ceiling on accuracy. This is the accuracy.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9509758" cy="3108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/>
                <a:gridCol w="1791693"/>
                <a:gridCol w="1516048"/>
                <a:gridCol w="3032097"/>
              </a:tblGrid>
              <a:tr h="444137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Arm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Answer present in context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closed-book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0.0%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11.9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12.4%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17.7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28.1%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13.1%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19.9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30.1%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P1-S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18.5%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24.7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C1272D"/>
                          </a:solidFill>
                          <a:latin typeface="Times New Roman"/>
                        </a:rPr>
                        <a:t>36.8%</a:t>
                      </a:r>
                    </a:p>
                  </a:txBody>
                  <a:tcPr anchor="ctr" marL="128016" marR="91440" marT="27432" marB="27432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Oracle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67.3%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75.7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pic>
        <p:nvPicPr>
          <p:cNvPr id="6" name="Picture 5" descr="fig5_end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606040"/>
            <a:ext cx="5822892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9509760" cy="1272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100" b="1" i="0">
                <a:solidFill>
                  <a:srgbClr val="1A1A1A"/>
                </a:solidFill>
                <a:latin typeface="Times New Roman"/>
              </a:rPr>
              <a:t>Two controls the comparison cannot be read without. </a:t>
            </a:r>
            <a:r>
              <a:rPr sz="2100" b="0" i="0">
                <a:solidFill>
                  <a:srgbClr val="1A1A1A"/>
                </a:solidFill>
                <a:latin typeface="Times New Roman"/>
              </a:rPr>
              <a:t>Closed-book is the floor — a model answering from parametric knowledge would make every policy look good. Oracle is the ceiling: exactly the cited evidence, perfectly selected.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8366760"/>
            <a:ext cx="64008" cy="132588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8366760"/>
            <a:ext cx="16578072" cy="132588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8458200"/>
            <a:ext cx="16002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WHAT THE READER ACTUALLY ANSWERED 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+6.0 points of the +8.7 recall gap convert into correct answers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 — 95% CI [+3.3, +9.1] clustered by conversation, which is 69% of the ceiling gap. All 715 answer-recoverable questions, one fixed reader. Closed-book scores 1.7%, so the margin above it is the memory system and almost nothing else.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We tested our own headline on a second benchmark — it failed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LoCoMo is ten conversations. LongMemEval is 94 independent haystacks of 38–62 sessions each. The claim should survive the move. It does not.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51790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2194560"/>
                <a:gridCol w="2743199"/>
                <a:gridCol w="2926079"/>
                <a:gridCol w="4572000"/>
              </a:tblGrid>
              <a:tr h="54864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Store budget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Retention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P1-S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Selection − FIFO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+4.8  [-3.2, +12.9]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7.9%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22.6%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+8.1  [-1.6, +17.7]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21.0%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27.4%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-6.5  [-17.7, +4.8]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23,000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22.1%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19.4%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40.3%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-21.0  [-33.9, -8.1]</a:t>
                      </a:r>
                    </a:p>
                  </a:txBody>
                  <a:tcPr anchor="ctr" marL="128016" marR="91440" marT="27432" marB="27432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32,768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31.4%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-21.0  [-35.5, -6.5]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172200"/>
            <a:ext cx="16642080" cy="1272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100" b="1" i="0">
                <a:solidFill>
                  <a:srgbClr val="1A1A1A"/>
                </a:solidFill>
                <a:latin typeface="Times New Roman"/>
              </a:rPr>
              <a:t>At storage matched to LoCoMo's retention (22.1% vs 22.0%), selection loses to FIFO by 21 answer points </a:t>
            </a:r>
            <a:r>
              <a:rPr sz="2100" b="0" i="0">
                <a:solidFill>
                  <a:srgbClr val="1A1A1A"/>
                </a:solidFill>
                <a:latin typeface="Times New Roman"/>
              </a:rPr>
              <a:t>— where LoCoMo gives +8.67, and the deficit is the same −20.97 at the next budget up. Selection does benefit from storage; it benefits consistently less than plain FIFO does.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7360920"/>
            <a:ext cx="64008" cy="16002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7360920"/>
            <a:ext cx="16578072" cy="16002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7452360"/>
            <a:ext cx="16002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WHY 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mechanism is not what failed. The scorer is.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  HeuristicScorer's separation between evidence and non-evidence turns reverses sign between the corpora: +0.0476 on LoCoMo, −0.0346 on LongMemEval. Eviction orders on that utility, so on LongMemEval it discards evidence first — losing to no ranking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052560"/>
            <a:ext cx="1664208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A5A5A"/>
                </a:solidFill>
                <a:latin typeface="Times New Roman"/>
              </a:rPr>
              <a:t>Written for LoCoMo's 32-token dialogue lines, dense in regex-catchable cues; LongMemEval's turns are 210-token conversational prose. Consistent with §24.2, where the fitted scorer's strongest single feature is turn length — a corpus-level regularity, not a semantic one.   [results/longmemeval_S*.csv]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The obvious alternative explanation, ruled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Before accepting a result that contradicts our own headline, we tried to break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207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100" b="1" i="0">
                <a:solidFill>
                  <a:srgbClr val="1A1A1A"/>
                </a:solidFill>
                <a:latin typeface="Times New Roman"/>
              </a:rPr>
              <a:t>The suspicion. </a:t>
            </a:r>
            <a:r>
              <a:rPr sz="2100" b="0" i="0">
                <a:solidFill>
                  <a:srgbClr val="1A1A1A"/>
                </a:solidFill>
                <a:latin typeface="Times New Roman"/>
              </a:rPr>
              <a:t>MemGatePolicy reserves a fixed 25% of the context for recent turns before retrieval is consulted; RAGPolicy reserves nothing. So “P1-S vs RAG isolates which turns are forgotten” was not strictly true — they also differed in guaranteed recency share.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100" b="1" i="0">
                <a:solidFill>
                  <a:srgbClr val="1A1A1A"/>
                </a:solidFill>
                <a:latin typeface="Times New Roman"/>
              </a:rPr>
              <a:t>Why it should have mattered here. </a:t>
            </a:r>
            <a:r>
              <a:rPr sz="2100" b="0" i="0">
                <a:solidFill>
                  <a:srgbClr val="1A1A1A"/>
                </a:solidFill>
                <a:latin typeface="Times New Roman"/>
              </a:rPr>
              <a:t>That 512 tokens buys ~16 turns on LoCoMo but only 2–3 on LongMemEval, whose answer sits in one of 38–62 sessions chosen without regard to recency. P1-S was plausibly spending a quarter of its context on turns that cannot answer the question.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5532120"/>
          <a:ext cx="13350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0"/>
                <a:gridCol w="2560320"/>
                <a:gridCol w="3108960"/>
              </a:tblGrid>
              <a:tr h="57150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Arm at S=23,000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Strict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111111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P1-S, split[0] = 0.25  (as measured)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3.2%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19.4%</a:t>
                      </a:r>
                    </a:p>
                  </a:txBody>
                  <a:tcPr anchor="ctr" marL="128016" marR="91440" marT="27432" marB="2743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P1-S, split[0] = 0     (reservation removed)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19.4%</a:t>
                      </a:r>
                    </a:p>
                  </a:txBody>
                  <a:tcPr anchor="ctr" marL="128016" marR="91440" marT="27432" marB="2743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21.3%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A1A1A"/>
                          </a:solidFill>
                          <a:latin typeface="Times New Roman"/>
                        </a:rPr>
                        <a:t>40.3%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8092440"/>
            <a:ext cx="64008" cy="155448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8092440"/>
            <a:ext cx="16578072" cy="155448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8183879"/>
            <a:ext cx="16002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RESULT 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Removing the reservation changed the answer metric by exactly nothing: +0.00, CI [+0.00, +0.00].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  The confound is real but not load-bearing. Selection still loses by −20.97 either way, so the scorer-transfer failure is the whole 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235440"/>
            <a:ext cx="16642080" cy="41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A5A5A"/>
                </a:solidFill>
                <a:latin typeface="Times New Roman"/>
              </a:rPr>
              <a:t>run_lme_split.py — same class, same scorer, same budgets, same retrieval depth; only split[0] moves.   [results/longmemeval_split_S23000.csv]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Three findings about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Each was caught by a guard, not by reading the code.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424160"/>
                <a:gridCol w="5120640"/>
              </a:tblGrid>
              <a:tr h="114300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Finding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What it cost</a:t>
                      </a:r>
                    </a:p>
                  </a:txBody>
                  <a:tcPr anchor="ctr" marL="128016" marR="91440" marT="27432" marB="27432"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*A policy that read its own answer key.* An early consolidation rule promoted items on fact_id — the evaluation label.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+45–47 recall points. Invalidated the Review 1 headline.</a:t>
                      </a:r>
                    </a:p>
                  </a:txBody>
                  <a:tcPr anchor="ctr" marL="128016" marR="91440" marT="27432" marB="27432"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*A component’s value is conditional on the bottleneck being elsewhere.* The MiniLM embedder measured at +0.2 points — true in the regime measured, where retrieval was saturated against a write path discarding 93% of the conversation.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Once that ceiling lifted, the same swap was worth +19.7.</a:t>
                      </a:r>
                    </a:p>
                  </a:txBody>
                  <a:tcPr anchor="ctr" marL="128016" marR="91440" marT="27432" marB="27432"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4.3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*A metric that credits pointers.* Evidence recall counts a turn as retrieved if its id reaches the context; a gist keeps the id and discards the text.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recall rose 8.1% → 14.8% while answer recall stayed at 12.8%.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7452360"/>
            <a:ext cx="64008" cy="16002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7452360"/>
            <a:ext cx="16578072" cy="16002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7543800"/>
            <a:ext cx="16002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AND A FOURTH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 fourth, smaller instance: batched judge scoring returned NaN for exactly the short turns. The instinct was precision, and float32 did not fix it — the cause was left-padding creating fully-masked attention rows. Without the NaN guard, every filler turn would have scored NaN and quietly inverted the eviction order.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Tools and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What was proposed at Review 1, and what the results were actually produced with.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937760"/>
                <a:gridCol w="5120640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11111"/>
                          </a:solidFill>
                          <a:latin typeface="Times New Roman"/>
                        </a:rPr>
                        <a:t>Area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11111"/>
                          </a:solidFill>
                          <a:latin typeface="Times New Roman"/>
                        </a:rPr>
                        <a:t>Proposed at Review 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11111"/>
                          </a:solidFill>
                          <a:latin typeface="Times New Roman"/>
                        </a:rPr>
                        <a:t>Actually used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11111"/>
                          </a:solidFill>
                          <a:latin typeface="Times New Roman"/>
                        </a:rPr>
                        <a:t>Why it changed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Base model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Llama 3 / Mistral; OpenAI or Anthropic API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Qwen2.5-0.5B and 1.5B-4bit, run locally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No key, no rate limit, no per-run cost, bit-reproducible offline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Agent scaffolding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LangChain / LlamaIndex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None — a direct harness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A framework’s own retrieval would confound the variable under study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Vector store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FAISS / Chroma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NumPy cosine over an in-process store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At 10 conversations an ANN index adds approximation error, not speed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Embeddings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Sentence-transformers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all-MiniLM-L6-v2, 384-d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As proposed; ablated against a hashing fallback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Tokenisation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tiktoken cl100k_base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Budgets must be exact tokens, not a word-count proxy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Evaluation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End-task F1 on a long-conversation benchmark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Context recall + answer presence, then end-task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Recall isolates the policy from the reader’s reasoning, and bounds it</a:t>
                      </a:r>
                    </a:p>
                  </a:txBody>
                  <a:tcPr anchor="ctr" marL="128016" marR="91440"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Statistics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C1272D"/>
                          </a:solidFill>
                          <a:latin typeface="Times New Roman"/>
                        </a:rPr>
                        <a:t>Paired bootstrap (B = 10,000) + exact McNemar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1,527 questions from 10 conversations are not 1,527 trials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7635240"/>
            <a:ext cx="64008" cy="12344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7635240"/>
            <a:ext cx="16578072" cy="12344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7726679"/>
            <a:ext cx="1600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WHY IT MATTERS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This is not scope reduction. Running everything locally and free is what made 35 storage configurations, 23 ablations, a 10,000-sample bootstrap and a 36-point scaling sweep affordable to re-run on every change.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Verification and engineering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Each guard exists because the failure it prevents already happened once.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0972800"/>
              </a:tblGrid>
              <a:tr h="64008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Guard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111111"/>
                          </a:solidFill>
                          <a:latin typeface="Times New Roman"/>
                        </a:rPr>
                        <a:t>What it prevents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61 tests (test_memgate.py)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Regression across the store, scorers, policies, compressor and harness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3 label-blindness invariants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1" i="0">
                          <a:solidFill>
                            <a:srgbClr val="C1272D"/>
                          </a:solidFill>
                          <a:latin typeface="Times New Roman"/>
                        </a:rPr>
                        <a:t>The evaluation leak, re-armed. Routing, eviction and demotion must produce a bit-identical store when every evaluation label is stripped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Offline pinning on import (HF_HUB_OFFLINE)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 silently fetched or half-downloaded model relabelling a whole results table — this already happened once, with MiniLM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Backend provenance (backend_info())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Reporting a MiniLM number that the hashing fallback actually produced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NaN guard in the judge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Filler turns scoring NaN and inverting the eviction order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Generation caches keyed by (model, prompt)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Non-reproducible LLM output; also what makes long runs resumable</a:t>
                      </a:r>
                    </a:p>
                  </a:txBody>
                  <a:tcPr anchor="ctr" marL="128016" marR="91440" marT="27432" marB="27432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Results committed with the code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 figure in a report that no longer matches the code that made it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8686800"/>
            <a:ext cx="64008" cy="10058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8686800"/>
            <a:ext cx="16578072" cy="10058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8778240"/>
            <a:ext cx="1600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C1272D"/>
                </a:solidFill>
                <a:latin typeface="Times New Roman"/>
              </a:rPr>
              <a:t>THE RULE ADOPTED  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The fix for a leak is a test, not a comment. Each new decision point is added to the invariant before any number from it is quoted.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Everything below is in the repository and reproducible from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6642080" cy="520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REPORT.md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the paper-ready writeup: abstract, method, results with intervals, methodological findings, limitations.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docs/REVIEW2_PROGRESS_REPORT.md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this review’s progress report: status, what changed since Review 1, the full technology inventory, and the plan to the final review.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SESSION_RECORD.md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the complete working record, §1–§33, written to be picked up cold.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frontend/index.html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an interactive results dashboard. Every figure on it is read from the committed CSVs by frontend/build_data.py; nothing is typed by hand.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memgate/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~6,500 lines of Python: the library, 17 runnable experiments, 68 tests.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paper/main.pdf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the IEEE conference paper, 6 pages, compiled from paper/main.tex with every table generated from the committed CSVs.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memgate/results/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every CSV and every figure quoted in this deck, committed alongside the code that produced them.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docs/make_review2_deck.py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— this deck, generated from those same CSVs.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8686800"/>
            <a:ext cx="64008" cy="100584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8686800"/>
            <a:ext cx="16578072" cy="100584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8778240"/>
            <a:ext cx="1600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00" b="0" i="0">
                <a:solidFill>
                  <a:srgbClr val="1A1A1A"/>
                </a:solidFill>
                <a:latin typeface="Times New Roman"/>
              </a:rPr>
              <a:t>A reviewer can check every number in this deck without a nine-minute benchmark run: the results are committed, and each slide names the file it came from.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9224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Jul ’26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6008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Aug ’26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2792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Sep ’26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9576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Oct ’26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6360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Nov ’26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331440" y="2532888"/>
            <a:ext cx="1712976" cy="502920"/>
          </a:xfrm>
          <a:prstGeom prst="roundRect">
            <a:avLst/>
          </a:prstGeom>
          <a:solidFill>
            <a:srgbClr val="F2F2F0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0" i="0">
                <a:solidFill>
                  <a:srgbClr val="5A5A5A"/>
                </a:solidFill>
                <a:latin typeface="Times New Roman"/>
              </a:rPr>
              <a:t>Dec ’26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06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Literature review, problem finalisation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172968"/>
            <a:ext cx="1712976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3931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System design and harness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22592" y="3721607"/>
            <a:ext cx="2066543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87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LoCoMo evaluation, leak removed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0080" y="4270248"/>
            <a:ext cx="1359408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365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Ablation study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90432" y="4818888"/>
            <a:ext cx="829056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8523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Storage budget, significance, scaling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5367527"/>
            <a:ext cx="1182624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338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P2 judge, byte accounting, learned scorer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5916168"/>
            <a:ext cx="1005839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825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Full end-task run (715 questions)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58272" y="6464807"/>
            <a:ext cx="1359408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9311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LongMemEval + the scorer-transfer finding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88624" y="7013448"/>
            <a:ext cx="1536192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7479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1A1A1A"/>
                </a:solidFill>
                <a:latin typeface="Times New Roman"/>
              </a:rPr>
              <a:t>IEEE paper: compiled, cut to 6 pages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42192" y="7562088"/>
            <a:ext cx="1005839" cy="365760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802843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A5A5A"/>
                </a:solidFill>
                <a:latin typeface="Times New Roman"/>
              </a:rPr>
              <a:t>Abstractive compression to all ten conversations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502896" y="8110727"/>
            <a:ext cx="1712976" cy="365760"/>
          </a:xfrm>
          <a:prstGeom prst="round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85770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A5A5A"/>
                </a:solidFill>
                <a:latin typeface="Times New Roman"/>
              </a:rPr>
              <a:t>Online learning of the eviction policy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563600" y="8659367"/>
            <a:ext cx="2066543" cy="365760"/>
          </a:xfrm>
          <a:prstGeom prst="round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91257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A5A5A"/>
                </a:solidFill>
                <a:latin typeface="Times New Roman"/>
              </a:rPr>
              <a:t>Final report, documentation, defence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977872" y="9208008"/>
            <a:ext cx="2066543" cy="365760"/>
          </a:xfrm>
          <a:prstGeom prst="round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43016" y="980236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1272D"/>
                </a:solidFill>
                <a:latin typeface="Times New Roman"/>
              </a:rPr>
              <a:t>● Review 1 · Jul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8696" y="980236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1272D"/>
                </a:solidFill>
                <a:latin typeface="Times New Roman"/>
              </a:rPr>
              <a:t>● This review · Sep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00104" y="980236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1272D"/>
                </a:solidFill>
                <a:latin typeface="Times New Roman"/>
              </a:rPr>
              <a:t>● Review 2 · Oct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82216" y="9802367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1272D"/>
                </a:solidFill>
                <a:latin typeface="Times New Roman"/>
              </a:rPr>
              <a:t>● Final · Dec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9418320"/>
            <a:ext cx="16642080" cy="76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5A5A5A"/>
                </a:solidFill>
                <a:latin typeface="Times New Roman"/>
              </a:rPr>
              <a:t>Filled bars are complete. The critical path closed in September: the end-task run, LongMemEval, and a compiled paper. What remains is a scorer that transfers across corpora — which LongMemEval turned from a nice-to-have into the live question.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Limitations, and what remains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7955279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1272D"/>
                </a:solidFill>
                <a:latin typeface="Times New Roman"/>
              </a:rPr>
              <a:t>Stated limitations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Ten conversations. Clustered intervals are wide because the cluster count is small — and the one effect that does not survive clustering is reported as not significant.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Context recall is the ceiling on end-task accuracy, not accuracy itself.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Compression tested is extractive. The negative result is stated for that case only.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Concatenated streams are synthetic.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Single embedder, single judge model. The judge result is evidence about a 0.5B model prompted per turn, not about LLM judging in general.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P3-learned is a headroom bound, not a component: a live agent has no future questions.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The scorer is tuned to LoCoMo. Read +8.7 as what a policy recovers given a scorer that suits the corpus — not as a property of scored selection in general.</a:t>
            </a:r>
          </a:p>
          <a:p>
            <a:pPr>
              <a:lnSpc>
                <a:spcPct val="103000"/>
              </a:lnSpc>
              <a:spcBef>
                <a:spcPts val="900"/>
              </a:spcBef>
            </a:pPr>
            <a:r>
              <a:rPr sz="20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On LongMemEval, strict recall is uninterpretable for a compressing arm: a gist carries the evidence id of text it discarded. Answer recall is unaffected.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212848"/>
            <a:ext cx="804672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1272D"/>
                </a:solidFill>
                <a:latin typeface="Times New Roman"/>
              </a:rPr>
              <a:t>Remaining work</a:t>
            </a:r>
          </a:p>
          <a:p>
            <a:pPr>
              <a:lnSpc>
                <a:spcPct val="103000"/>
              </a:lnSpc>
              <a:spcBef>
                <a:spcPts val="1100"/>
              </a:spcBef>
            </a:pPr>
            <a:r>
              <a:rPr sz="2000" b="1" i="0">
                <a:solidFill>
                  <a:srgbClr val="C1272D"/>
                </a:solidFill>
                <a:latin typeface="Times New Roman"/>
              </a:rPr>
              <a:t>1.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A scorer that transfers across corpora. LongMemEval turned this from a nice-to-have into the project's live question.</a:t>
            </a:r>
            <a:r>
              <a:rPr sz="1800" b="0" i="1">
                <a:solidFill>
                  <a:srgbClr val="5A5A5A"/>
                </a:solidFill>
                <a:latin typeface="Times New Roman"/>
              </a:rPr>
              <a:t>   the critical path</a:t>
            </a:r>
          </a:p>
          <a:p>
            <a:pPr>
              <a:lnSpc>
                <a:spcPct val="103000"/>
              </a:lnSpc>
              <a:spcBef>
                <a:spcPts val="1100"/>
              </a:spcBef>
            </a:pPr>
            <a:r>
              <a:rPr sz="2000" b="1" i="0">
                <a:solidFill>
                  <a:srgbClr val="C1272D"/>
                </a:solidFill>
                <a:latin typeface="Times New Roman"/>
              </a:rPr>
              <a:t>2.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Abstractive compression to all ten conversations. Built and running, but the result on disk is one conversation — a single cluster, so its intervals are degenerate and not quotable.</a:t>
            </a:r>
            <a:r>
              <a:rPr sz="1800" b="0" i="1">
                <a:solidFill>
                  <a:srgbClr val="5A5A5A"/>
                </a:solidFill>
                <a:latin typeface="Times New Roman"/>
              </a:rPr>
              <a:t>   ~4 h of generation</a:t>
            </a:r>
          </a:p>
          <a:p>
            <a:pPr>
              <a:lnSpc>
                <a:spcPct val="103000"/>
              </a:lnSpc>
              <a:spcBef>
                <a:spcPts val="1100"/>
              </a:spcBef>
            </a:pPr>
            <a:r>
              <a:rPr sz="2000" b="1" i="0">
                <a:solidFill>
                  <a:srgbClr val="C1272D"/>
                </a:solidFill>
                <a:latin typeface="Times New Roman"/>
              </a:rPr>
              <a:t>3.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Online learning of the eviction policy — the only route that makes a learned scorer deployable. Built; pilot-scale at two conversations.</a:t>
            </a:r>
            <a:r>
              <a:rPr sz="1800" b="0" i="1">
                <a:solidFill>
                  <a:srgbClr val="5A5A5A"/>
                </a:solidFill>
                <a:latin typeface="Times New Roman"/>
              </a:rPr>
              <a:t>   1 session</a:t>
            </a:r>
          </a:p>
          <a:p>
            <a:pPr>
              <a:lnSpc>
                <a:spcPct val="103000"/>
              </a:lnSpc>
              <a:spcBef>
                <a:spcPts val="1100"/>
              </a:spcBef>
            </a:pPr>
            <a:r>
              <a:rPr sz="2000" b="1" i="0">
                <a:solidFill>
                  <a:srgbClr val="C1272D"/>
                </a:solidFill>
                <a:latin typeface="Times New Roman"/>
              </a:rPr>
              <a:t>4.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The S=32,768 LongMemEval point, to close the retention sweep.</a:t>
            </a:r>
            <a:r>
              <a:rPr sz="1800" b="0" i="1">
                <a:solidFill>
                  <a:srgbClr val="5A5A5A"/>
                </a:solidFill>
                <a:latin typeface="Times New Roman"/>
              </a:rPr>
              <a:t>   ~20 min, alone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Conclusion as it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6642080" cy="457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With storage unbounded — the standard accounting —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tiered compression is a net loss against keeping everything and retrieving.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With storage bounded, the decision policy is worth +8.7 answer-recall points,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while compression still loses 6.7.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The rate–distortion crossover at which compression should pay is not reachable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on this benchmark — to 182×, keeping a selected subset whole beats compressing everything.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Charging for the embedding index inverts the ranking below ~40 KiB,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where a policy with no index at all wins outright.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An LLM judge — the obvious way to improve the scorer — loses to a regex,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and the reason is diagnosable: it rates turns in isolation.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300" b="0" i="0">
                <a:solidFill>
                  <a:srgbClr val="C1272D"/>
                </a:solidFill>
                <a:latin typeface="Times New Roman"/>
              </a:rPr>
              <a:t>•  </a:t>
            </a:r>
            <a:r>
              <a:rPr sz="2300" b="1" i="0">
                <a:solidFill>
                  <a:srgbClr val="1A1A1A"/>
                </a:solidFill>
                <a:latin typeface="Times New Roman"/>
              </a:rPr>
              <a:t>On a second benchmark the headline does not replicate, </a:t>
            </a:r>
            <a:r>
              <a:rPr sz="2300" b="0" i="0">
                <a:solidFill>
                  <a:srgbClr val="1A1A1A"/>
                </a:solidFill>
                <a:latin typeface="Times New Roman"/>
              </a:rPr>
              <a:t>and the cause is the scorer, not the mechanism: its separation between evidence and non-evidence turns reverses sign between corpora.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784848"/>
            <a:ext cx="64008" cy="155448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" y="6784848"/>
            <a:ext cx="16578072" cy="155448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6876288"/>
            <a:ext cx="16002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A1A1A"/>
                </a:solidFill>
                <a:latin typeface="Times New Roman"/>
              </a:rPr>
              <a:t>Practical guidance: keep a scored subset whole; do not compress everything. 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/>
            </a:r>
            <a:r>
              <a:rPr sz="2600" b="1" i="0">
                <a:solidFill>
                  <a:srgbClr val="1A1A1A"/>
                </a:solidFill>
                <a:latin typeface="Times New Roman"/>
              </a:rPr>
              <a:t>And denominate the budget in bytes, including the index, or the comparison is not the one you think you are making.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567928"/>
            <a:ext cx="166420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5A5A5A"/>
                </a:solidFill>
                <a:latin typeface="Times New Roman"/>
              </a:rPr>
              <a:t>Presented as “a memory layer with three tiers”, this work would already have been done. Measured honestly, the more useful result is what doesn’t work — including, twice now, our own headline.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664208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1.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Packer, C., et al. (2023). MemGPT: Towards LLMs as Operating Systems. arXiv:2310.08560.</a:t>
            </a:r>
            <a:r>
              <a:rPr sz="2000" b="1" i="0">
                <a:solidFill>
                  <a:srgbClr val="C1272D"/>
                </a:solidFill>
                <a:latin typeface="Times New Roman"/>
              </a:rPr>
              <a:t>  ← base paper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2.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Maharana, A., et al. (2024). Evaluating Very Long-Term Conversational Memory of LLM Agents (LoCoMo). ACL.</a:t>
            </a:r>
            <a:r>
              <a:rPr sz="2000" b="1" i="0">
                <a:solidFill>
                  <a:srgbClr val="C1272D"/>
                </a:solidFill>
                <a:latin typeface="Times New Roman"/>
              </a:rPr>
              <a:t>  ← benchmark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3.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Zhong, W., et al. (2024). MemoryBank. AAAI 38(17), 19724–19731.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4.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Park, J. S., et al. (2023). Generative Agents. UIST ’23.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5.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Xiao, G., et al. (2024). Efficient Streaming Language Models with Attention Sinks. ICLR.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6.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Zhang, Z., et al. (2023). H2O: Heavy-Hitter Oracle. NeurIPS.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7.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Jiang, H., et al. (2023). LLMLingua. EMNLP, 13358–13376.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8.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Mu, J., Li, X. L., &amp; Goodman, N. (2023). Learning to Compress Prompts with Gist Tokens. NeurIPS.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9.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Chevalier, A., et al. (2023). Adapting Language Models to Compress Contexts. EMNLP.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10.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Zhang, Z., et al. (2024). A Survey on the Memory Mechanism of LLM-Based Agents. arXiv:2404.13501.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11.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Xu, W., et al. (2025). A-MEM: Agentic Memory for LLM Agents. NeurIPS, arXiv:2502.12110.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12.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Chroma Research (2025). Context Rot.  ·  Colaco &amp; Lahjouji (2026). arXiv:2607.08032.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2000" b="0" i="0">
                <a:solidFill>
                  <a:srgbClr val="5A5A5A"/>
                </a:solidFill>
                <a:latin typeface="Times New Roman"/>
              </a:rPr>
              <a:t>13.  </a:t>
            </a:r>
            <a:r>
              <a:rPr sz="2000" b="0" i="0">
                <a:solidFill>
                  <a:srgbClr val="1A1A1A"/>
                </a:solidFill>
                <a:latin typeface="Times New Roman"/>
              </a:rPr>
              <a:t>Wu, D., et al. (2024). LongMemEval. arXiv:2410.10813.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15400"/>
            <a:ext cx="16642080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Times New Roman"/>
              </a:rPr>
              <a:t>Author lists, venues and years were each verified against source pages. Several 2026 performance figures used in the motivation come from vendor blogs and are treated as indicative — re-measuring them under one harness is itself part of the contribution.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931920"/>
            <a:ext cx="2194560" cy="381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0"/>
            <a:ext cx="1463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111111"/>
                </a:solidFill>
                <a:latin typeface="Times New Roman"/>
              </a:rPr>
              <a:t>Thank you</a:t>
            </a:r>
          </a:p>
          <a:p>
            <a:pPr>
              <a:spcBef>
                <a:spcPts val="1600"/>
              </a:spcBef>
            </a:pPr>
            <a:r>
              <a:rPr sz="2700" b="0" i="0">
                <a:solidFill>
                  <a:srgbClr val="5A5A5A"/>
                </a:solidFill>
                <a:latin typeface="Times New Roman"/>
              </a:rPr>
              <a:t>Questions welcome — including on the results that did not work.</a:t>
            </a:r>
          </a:p>
          <a:p>
            <a:pPr>
              <a:spcBef>
                <a:spcPts val="2600"/>
              </a:spcBef>
            </a:pPr>
            <a:r>
              <a:rPr sz="2400" b="0" i="0">
                <a:solidFill>
                  <a:srgbClr val="1A1A1A"/>
                </a:solidFill>
                <a:latin typeface="Times New Roman"/>
              </a:rPr>
              <a:t>Simar Singh Khanuja  ·  Yash Ramchandani</a:t>
            </a:r>
          </a:p>
          <a:p>
            <a:r>
              <a:rPr sz="2400" b="0" i="0">
                <a:solidFill>
                  <a:srgbClr val="5A5A5A"/>
                </a:solidFill>
                <a:latin typeface="Times New Roman"/>
              </a:rPr>
              <a:t>SVKM’s NMIMS, Indore Campus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Backup — the full storage sweep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1664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1">
                <a:solidFill>
                  <a:srgbClr val="5A5A5A"/>
                </a:solidFill>
                <a:latin typeface="Times New Roman"/>
              </a:rPr>
              <a:t>Shown on request. Context budget pinned at 2048 for every row.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14600"/>
          <a:ext cx="16642077" cy="731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97"/>
                <a:gridCol w="4729854"/>
                <a:gridCol w="2802876"/>
                <a:gridCol w="2627696"/>
                <a:gridCol w="2277337"/>
                <a:gridCol w="2452517"/>
              </a:tblGrid>
              <a:tr h="23597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Policy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Evidence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Answer recall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Stored tokens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Context tokens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497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496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497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496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422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415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491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486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512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7.4%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485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473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1,005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1,005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1,005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987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6.1%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906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886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1,002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984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1,024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1,006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963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2,031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2,031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2,031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1,983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12.3%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18.0%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1,483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1,401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2,022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1,758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10.9%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26.3%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2,025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1,932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4,068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17.8%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4,068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2,018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20.3%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2,059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1,424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4,042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1,470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4,096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36.8%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4,077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2,006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8,172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30.6%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44.3%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8,172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1,987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20.6%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2,150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1,425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43.5%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37.5%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8,160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1,170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8,192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31.4%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48.2%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8,171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1,772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P0 sliding-window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10.1%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15,666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2,047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RAG store-all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53.3%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66.4%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15,666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1,965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 MemGate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20.6%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2,150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1,425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P1-A MemGate adaptive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58.4%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66.4%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15,623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1,406</a:t>
                      </a:r>
                    </a:p>
                  </a:txBody>
                  <a:tcPr anchor="ctr" marL="128016" marR="91440" marT="27432" marB="27432"/>
                </a:tc>
              </a:tr>
              <a:tr h="2359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16,384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P1-S MemGate select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58.7%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72.3%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15,626</a:t>
                      </a:r>
                    </a:p>
                  </a:txBody>
                  <a:tcPr anchor="ctr" marL="128016" marR="91440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1,777</a:t>
                      </a:r>
                    </a:p>
                  </a:txBody>
                  <a:tcPr anchor="ctr" marL="128016" marR="91440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664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11111"/>
                </a:solidFill>
                <a:latin typeface="Times New Roman"/>
              </a:rPr>
              <a:t>Backup — repository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55648"/>
            <a:ext cx="16642080" cy="1905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166420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Capstone Project/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REPORT.md                       paper-ready writeup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SESSION_RECORD.md               working record, §1–§28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docs/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REVIEW2_PROGRESS_REPORT.md    the progress report for this review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make_review2_deck.py          builds this deck from the CSVs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frontend/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index.html                    interactive results dashboard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build_data.py                 regenerates data.js from results/*.csv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memgate/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memgate/                      the library — types, utils, store, scoring,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                              policies, compress, judge, llm_judge, data, harness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run_locomo.py                 context-budget frontier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run_storage_sweep.py          storage budget — 35 configurations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run_scaling.py                compression ratio to 182×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run_cost_model.py             byte accounting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run_significance.py           bootstrap + McNemar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train_scorer.py               learned scorer, leave-one-conversation-out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precompute_judge.py           P2 judge scores (cached)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run_judge_eval.py             scorer comparison with clustered CIs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run_endtask.py                end-task accuracy (resumable)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run_ablations.py              23-configuration component attribution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diagnose.py                   attributes every miss to one component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make_figures.py               fig1–fig5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run_longmemeval.py            LongMemEval, swept by store budget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run_lme_split.py              the §30.4 recency-confound control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5A5A5A"/>
                </a:solidFill>
                <a:latin typeface="Consolas"/>
              </a:rPr>
              <a:t>    test_memgate.py               68 tests</a:t>
            </a:r>
          </a:p>
          <a:p>
            <a:pPr>
              <a:lnSpc>
                <a:spcPct val="100000"/>
              </a:lnSpc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results/                      every CSV and figure quoted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15400"/>
            <a:ext cx="16642080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Times New Roman"/>
              </a:rPr>
              <a:t>Not committed, by design: the LoCoMo benchmark (2.7 MB) and the model weights (~1 GB). Both are reproducible — memgate/README.md gives the exact fetch commands. The results CSVs are committed, so every number here is checkable without a nine-minute benchmark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