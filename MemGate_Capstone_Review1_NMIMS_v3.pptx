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6" r:id="rId4"/>
    <p:sldId id="258" r:id="rId5"/>
    <p:sldId id="267" r:id="rId6"/>
    <p:sldId id="260" r:id="rId7"/>
    <p:sldId id="270" r:id="rId8"/>
    <p:sldId id="271" r:id="rId9"/>
    <p:sldId id="268" r:id="rId10"/>
    <p:sldId id="269" r:id="rId11"/>
    <p:sldId id="263" r:id="rId12"/>
    <p:sldId id="261" r:id="rId13"/>
    <p:sldId id="262" r:id="rId14"/>
    <p:sldId id="264" r:id="rId15"/>
    <p:sldId id="265" r:id="rId16"/>
    <p:sldId id="272" r:id="rId1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94603"/>
  </p:normalViewPr>
  <p:slideViewPr>
    <p:cSldViewPr>
      <p:cViewPr>
        <p:scale>
          <a:sx n="68" d="100"/>
          <a:sy n="68" d="100"/>
        </p:scale>
        <p:origin x="792" y="22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7/25/26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7/25/26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7/25/26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7/25/26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8000" cy="10286999"/>
          </a:xfrm>
          <a:prstGeom prst="rect">
            <a:avLst/>
          </a:prstGeom>
        </p:spPr>
      </p:pic>
      <p:sp>
        <p:nvSpPr>
          <p:cNvPr id="2" name="Holder 2"/>
          <p:cNvSpPr>
            <a:spLocks noGrp="1"/>
          </p:cNvSpPr>
          <p:nvPr>
            <p:ph type="title"/>
          </p:nvPr>
        </p:nvSpPr>
        <p:spPr>
          <a:xfrm>
            <a:off x="5967252" y="758019"/>
            <a:ext cx="6353494" cy="1279094"/>
          </a:xfrm>
          <a:prstGeom prst="rect">
            <a:avLst/>
          </a:prstGeom>
        </p:spPr>
        <p:txBody>
          <a:bodyPr wrap="square" lIns="0" tIns="0" rIns="0" bIns="0">
            <a:spAutoFit/>
          </a:bodyPr>
          <a:lstStyle>
            <a:lvl1pPr>
              <a:defRPr sz="6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641634" y="2451766"/>
            <a:ext cx="13084810" cy="63119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7/25/26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46339" y="2398720"/>
            <a:ext cx="14795500" cy="4431341"/>
          </a:xfrm>
          <a:prstGeom prst="rect">
            <a:avLst/>
          </a:prstGeom>
        </p:spPr>
        <p:txBody>
          <a:bodyPr vert="horz" wrap="square" lIns="0" tIns="45085" rIns="0" bIns="0" rtlCol="0">
            <a:spAutoFit/>
          </a:bodyPr>
          <a:lstStyle/>
          <a:p>
            <a:pPr marL="12065" marR="5080" algn="ctr">
              <a:lnSpc>
                <a:spcPct val="100000"/>
              </a:lnSpc>
              <a:spcBef>
                <a:spcPts val="355"/>
              </a:spcBef>
              <a:spcAft>
                <a:spcPts val="600"/>
              </a:spcAft>
            </a:pPr>
            <a:r>
              <a:rPr sz="4200" b="1" dirty="0" err="1">
                <a:solidFill>
                  <a:srgbClr val="1A1A1A"/>
                </a:solidFill>
                <a:latin typeface="Times New Roman"/>
              </a:rPr>
              <a:t>MemGate</a:t>
            </a:r>
            <a:r>
              <a:rPr sz="4200" b="1" dirty="0">
                <a:solidFill>
                  <a:srgbClr val="1A1A1A"/>
                </a:solidFill>
                <a:latin typeface="Times New Roman"/>
              </a:rPr>
              <a:t>: An Adaptive Memory Layer for Long-Running LLM Agents</a:t>
            </a:r>
            <a:endParaRPr sz="5000" dirty="0">
              <a:latin typeface="Times New Roman"/>
              <a:cs typeface="Times New Roman"/>
            </a:endParaRPr>
          </a:p>
          <a:p>
            <a:pPr algn="ctr">
              <a:lnSpc>
                <a:spcPct val="100000"/>
              </a:lnSpc>
              <a:spcAft>
                <a:spcPts val="200"/>
              </a:spcAft>
            </a:pPr>
            <a:endParaRPr sz="5000" dirty="0">
              <a:latin typeface="Times New Roman"/>
              <a:cs typeface="Times New Roman"/>
            </a:endParaRPr>
          </a:p>
          <a:p>
            <a:pPr algn="ctr">
              <a:lnSpc>
                <a:spcPct val="100000"/>
              </a:lnSpc>
              <a:spcAft>
                <a:spcPts val="200"/>
              </a:spcAft>
            </a:pPr>
            <a:r>
              <a:rPr sz="3200" b="0" dirty="0">
                <a:solidFill>
                  <a:srgbClr val="1A1A1A"/>
                </a:solidFill>
                <a:latin typeface="Times New Roman"/>
              </a:rPr>
              <a:t>Simar Singh Khanuja</a:t>
            </a:r>
            <a:r>
              <a:rPr lang="en-US" sz="3200" b="0" dirty="0">
                <a:solidFill>
                  <a:srgbClr val="1A1A1A"/>
                </a:solidFill>
                <a:latin typeface="Times New Roman"/>
              </a:rPr>
              <a:t> - 70562200088</a:t>
            </a:r>
            <a:endParaRPr sz="3200" b="0" dirty="0">
              <a:solidFill>
                <a:srgbClr val="1A1A1A"/>
              </a:solidFill>
              <a:latin typeface="Times New Roman"/>
            </a:endParaRPr>
          </a:p>
          <a:p>
            <a:pPr algn="ctr">
              <a:lnSpc>
                <a:spcPct val="100000"/>
              </a:lnSpc>
              <a:spcAft>
                <a:spcPts val="200"/>
              </a:spcAft>
            </a:pPr>
            <a:r>
              <a:rPr sz="3200" b="0" dirty="0">
                <a:solidFill>
                  <a:srgbClr val="1A1A1A"/>
                </a:solidFill>
                <a:latin typeface="Times New Roman"/>
              </a:rPr>
              <a:t>Yash Ramchandani</a:t>
            </a:r>
            <a:r>
              <a:rPr lang="en-US" sz="3200" b="0" dirty="0">
                <a:solidFill>
                  <a:srgbClr val="1A1A1A"/>
                </a:solidFill>
                <a:latin typeface="Times New Roman"/>
              </a:rPr>
              <a:t> - 70562300097</a:t>
            </a:r>
            <a:endParaRPr sz="3200" b="0" dirty="0">
              <a:solidFill>
                <a:srgbClr val="1A1A1A"/>
              </a:solidFill>
              <a:latin typeface="Times New Roman"/>
            </a:endParaRPr>
          </a:p>
          <a:p>
            <a:pPr algn="ctr">
              <a:lnSpc>
                <a:spcPct val="100000"/>
              </a:lnSpc>
              <a:spcAft>
                <a:spcPts val="600"/>
              </a:spcAft>
            </a:pPr>
            <a:endParaRPr sz="3200" b="0" dirty="0">
              <a:solidFill>
                <a:srgbClr val="1A1A1A"/>
              </a:solidFill>
              <a:latin typeface="Times New Roman"/>
            </a:endParaRPr>
          </a:p>
          <a:p>
            <a:pPr algn="ctr">
              <a:lnSpc>
                <a:spcPct val="100000"/>
              </a:lnSpc>
              <a:spcAft>
                <a:spcPts val="800"/>
              </a:spcAft>
            </a:pPr>
            <a:r>
              <a:rPr sz="4000" b="1" dirty="0">
                <a:solidFill>
                  <a:srgbClr val="C1272D"/>
                </a:solidFill>
                <a:latin typeface="Calibri"/>
              </a:rPr>
              <a:t>SVKM’s NMIMS, Indore Campus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22960" y="603504"/>
            <a:ext cx="16642080" cy="1371600"/>
          </a:xfrm>
          <a:prstGeom prst="rect">
            <a:avLst/>
          </a:prstGeom>
        </p:spPr>
        <p:txBody>
          <a:bodyPr vert="horz" wrap="square" lIns="0" tIns="110059" rIns="0" bIns="0" rtlCol="0" anchor="ctr">
            <a:noAutofit/>
          </a:bodyPr>
          <a:lstStyle/>
          <a:p>
            <a:pPr marL="1056005" algn="ctr">
              <a:lnSpc>
                <a:spcPct val="100000"/>
              </a:lnSpc>
              <a:spcBef>
                <a:spcPts val="100"/>
              </a:spcBef>
            </a:pPr>
            <a:r>
              <a:rPr sz="4200" b="1">
                <a:solidFill>
                  <a:srgbClr val="111111"/>
                </a:solidFill>
                <a:latin typeface="Times New Roman"/>
              </a:rPr>
              <a:t>Introduction</a:t>
            </a:r>
          </a:p>
        </p:txBody>
      </p:sp>
      <p:sp>
        <p:nvSpPr>
          <p:cNvPr id="4" name="object 4"/>
          <p:cNvSpPr txBox="1"/>
          <p:nvPr/>
        </p:nvSpPr>
        <p:spPr>
          <a:xfrm>
            <a:off x="822960" y="2286000"/>
            <a:ext cx="16642080" cy="6675120"/>
          </a:xfrm>
          <a:prstGeom prst="rect">
            <a:avLst/>
          </a:prstGeom>
        </p:spPr>
        <p:txBody>
          <a:bodyPr vert="horz" wrap="square" lIns="0" tIns="12065" rIns="0" bIns="0" rtlCol="0">
            <a:spAutoFit/>
          </a:bodyPr>
          <a:lstStyle/>
          <a:p>
            <a:pPr marL="12700" marR="5080" algn="just">
              <a:lnSpc>
                <a:spcPct val="105000"/>
              </a:lnSpc>
              <a:spcBef>
                <a:spcPts val="95"/>
              </a:spcBef>
              <a:spcAft>
                <a:spcPts val="1400"/>
              </a:spcAft>
            </a:pPr>
            <a:r>
              <a:rPr sz="2600" b="0">
                <a:solidFill>
                  <a:srgbClr val="1A1A1A"/>
                </a:solidFill>
                <a:latin typeface="Times New Roman"/>
              </a:rPr>
              <a:t>LLM agents are now used for work that runs over long sessions: coding assistants, research agents, and personal assistants that are expected to remember what happened earlier. To stay coherent, most of them simply append every message to a growing prompt and send the whole history back to the model on each turn. This works early on, but it does not scale. The cost of self-attention rises with the square of the sequence length, and the key-value (KV) cache the model keeps in memory grows with every token added. So the longer an agent runs, the slower and more expensive each reply becomes, until it either fills the context window or gets too costly to continue. Much of that stored history is also redundant, greetings and acknowledgements that no longer matter.</a:t>
            </a:r>
            <a:endParaRPr sz="2650">
              <a:latin typeface="Times New Roman"/>
              <a:cs typeface="Times New Roman"/>
            </a:endParaRPr>
          </a:p>
          <a:p>
            <a:pPr algn="just">
              <a:lnSpc>
                <a:spcPct val="105000"/>
              </a:lnSpc>
              <a:spcAft>
                <a:spcPts val="800"/>
              </a:spcAft>
            </a:pPr>
            <a:r>
              <a:rPr sz="2600" b="1">
                <a:solidFill>
                  <a:srgbClr val="C1272D"/>
                </a:solidFill>
                <a:latin typeface="Times New Roman"/>
              </a:rPr>
              <a:t>MemGate </a:t>
            </a:r>
            <a:r>
              <a:rPr sz="2600" b="0">
                <a:solidFill>
                  <a:srgbClr val="1A1A1A"/>
                </a:solidFill>
                <a:latin typeface="Times New Roman"/>
              </a:rPr>
              <a:t>sits between the agent and the model and manages that history actively, keeping only what matters in full and compressing or dropping the rest.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603504"/>
            <a:ext cx="16642080" cy="1371600"/>
          </a:xfrm>
        </p:spPr>
        <p:txBody>
          <a:bodyPr wrap="square" anchor="ctr">
            <a:noAutofit/>
          </a:bodyPr>
          <a:lstStyle/>
          <a:p>
            <a:pPr algn="ctr"/>
            <a:r>
              <a:rPr sz="4200" b="1">
                <a:solidFill>
                  <a:srgbClr val="111111"/>
                </a:solidFill>
                <a:latin typeface="Times New Roman"/>
              </a:rPr>
              <a:t>Problem Statement</a:t>
            </a:r>
          </a:p>
        </p:txBody>
      </p:sp>
      <p:sp>
        <p:nvSpPr>
          <p:cNvPr id="3" name="TextBox 2"/>
          <p:cNvSpPr txBox="1"/>
          <p:nvPr/>
        </p:nvSpPr>
        <p:spPr>
          <a:xfrm>
            <a:off x="914400" y="2286000"/>
            <a:ext cx="16459200" cy="7132320"/>
          </a:xfrm>
          <a:prstGeom prst="rect">
            <a:avLst/>
          </a:prstGeom>
          <a:noFill/>
        </p:spPr>
        <p:txBody>
          <a:bodyPr wrap="square">
            <a:spAutoFit/>
          </a:bodyPr>
          <a:lstStyle/>
          <a:p>
            <a:pPr algn="just">
              <a:lnSpc>
                <a:spcPct val="106000"/>
              </a:lnSpc>
              <a:spcAft>
                <a:spcPts val="1400"/>
              </a:spcAft>
            </a:pPr>
            <a:r>
              <a:rPr sz="2500" b="0">
                <a:solidFill>
                  <a:srgbClr val="1A1A1A"/>
                </a:solidFill>
                <a:latin typeface="Times New Roman"/>
              </a:rPr>
              <a:t>As a session grows, the entire history is re-sent to the model on every turn. Because attention scales with the square of the length and the KV cache grows with every token, long-running agents get steadily slower and more expensive, and eventually hit the context limit.</a:t>
            </a:r>
          </a:p>
          <a:p>
            <a:pPr algn="just">
              <a:lnSpc>
                <a:spcPct val="106000"/>
              </a:lnSpc>
              <a:spcAft>
                <a:spcPts val="1600"/>
              </a:spcAft>
            </a:pPr>
            <a:r>
              <a:rPr sz="2500" b="0">
                <a:solidFill>
                  <a:srgbClr val="1A1A1A"/>
                </a:solidFill>
                <a:latin typeface="Times New Roman"/>
              </a:rPr>
              <a:t>The usual fixes are blunt. A fixed sliding window simply drops the oldest messages, while plain summarization compresses everything the same way and loses the specific names, numbers, and decisions the agent needs later. Neither one decides what is actually worth keeping.</a:t>
            </a:r>
          </a:p>
          <a:p>
            <a:pPr algn="just">
              <a:lnSpc>
                <a:spcPct val="106000"/>
              </a:lnSpc>
              <a:spcAft>
                <a:spcPts val="800"/>
              </a:spcAft>
            </a:pPr>
            <a:r>
              <a:rPr sz="2500" b="1">
                <a:solidFill>
                  <a:srgbClr val="C1272D"/>
                </a:solidFill>
                <a:latin typeface="Times New Roman"/>
              </a:rPr>
              <a:t>Core problem:  </a:t>
            </a:r>
            <a:r>
              <a:rPr sz="2500" b="1">
                <a:solidFill>
                  <a:srgbClr val="1A1A1A"/>
                </a:solidFill>
                <a:latin typeface="Times New Roman"/>
              </a:rPr>
              <a:t>agents pay a growing cost-and-latency tax for memory they mostly do not need, and current fixes forget the wrong things.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2960" y="603504"/>
            <a:ext cx="16642080" cy="1371600"/>
          </a:xfrm>
          <a:prstGeom prst="rect">
            <a:avLst/>
          </a:prstGeom>
        </p:spPr>
        <p:txBody>
          <a:bodyPr vert="horz" wrap="square" lIns="0" tIns="242473" rIns="0" bIns="0" rtlCol="0" anchor="ctr">
            <a:noAutofit/>
          </a:bodyPr>
          <a:lstStyle/>
          <a:p>
            <a:pPr marL="1562100" algn="ctr">
              <a:lnSpc>
                <a:spcPct val="100000"/>
              </a:lnSpc>
              <a:spcBef>
                <a:spcPts val="100"/>
              </a:spcBef>
            </a:pPr>
            <a:r>
              <a:rPr sz="4200" b="1">
                <a:solidFill>
                  <a:srgbClr val="111111"/>
                </a:solidFill>
                <a:latin typeface="Times New Roman"/>
              </a:rPr>
              <a:t>Objectives</a:t>
            </a:r>
          </a:p>
        </p:txBody>
      </p:sp>
      <p:sp>
        <p:nvSpPr>
          <p:cNvPr id="6" name="object 6"/>
          <p:cNvSpPr txBox="1"/>
          <p:nvPr/>
        </p:nvSpPr>
        <p:spPr>
          <a:xfrm>
            <a:off x="1171143" y="2832319"/>
            <a:ext cx="15714980" cy="5892800"/>
          </a:xfrm>
          <a:prstGeom prst="rect">
            <a:avLst/>
          </a:prstGeom>
        </p:spPr>
        <p:txBody>
          <a:bodyPr vert="horz" wrap="square" lIns="0" tIns="118110" rIns="0" bIns="0" rtlCol="0">
            <a:spAutoFit/>
          </a:bodyPr>
          <a:lstStyle/>
          <a:p>
            <a:pPr marL="12700" algn="l">
              <a:lnSpc>
                <a:spcPct val="100000"/>
              </a:lnSpc>
              <a:spcBef>
                <a:spcPts val="930"/>
              </a:spcBef>
              <a:spcAft>
                <a:spcPts val="300"/>
              </a:spcAft>
            </a:pPr>
            <a:r>
              <a:rPr sz="2600" b="1">
                <a:solidFill>
                  <a:srgbClr val="1A1A1A"/>
                </a:solidFill>
                <a:latin typeface="Times New Roman"/>
              </a:rPr>
              <a:t>Objective 1: Adaptive compression</a:t>
            </a:r>
            <a:endParaRPr sz="2800">
              <a:latin typeface="Times New Roman"/>
              <a:cs typeface="Times New Roman"/>
            </a:endParaRPr>
          </a:p>
          <a:p>
            <a:pPr algn="l">
              <a:lnSpc>
                <a:spcPct val="103000"/>
              </a:lnSpc>
              <a:spcAft>
                <a:spcPts val="600"/>
              </a:spcAft>
            </a:pPr>
            <a:r>
              <a:rPr sz="2200" b="0">
                <a:solidFill>
                  <a:srgbClr val="1A1A1A"/>
                </a:solidFill>
                <a:latin typeface="Times New Roman"/>
              </a:rPr>
              <a:t>The Adaptive Memory Decision Engine scores each part of the conversation by importance, then keeps it in full, rewrites it as a short summary, or drops it, so the working context stays inside a fixed token budget.</a:t>
            </a:r>
          </a:p>
          <a:p>
            <a:pPr algn="l">
              <a:lnSpc>
                <a:spcPct val="100000"/>
              </a:lnSpc>
              <a:spcBef>
                <a:spcPts val="1000"/>
              </a:spcBef>
              <a:spcAft>
                <a:spcPts val="300"/>
              </a:spcAft>
            </a:pPr>
            <a:r>
              <a:rPr sz="2600" b="1">
                <a:solidFill>
                  <a:srgbClr val="1A1A1A"/>
                </a:solidFill>
                <a:latin typeface="Times New Roman"/>
              </a:rPr>
              <a:t>Objective 2: Hierarchical memory with recall</a:t>
            </a:r>
          </a:p>
          <a:p>
            <a:pPr algn="l">
              <a:lnSpc>
                <a:spcPct val="103000"/>
              </a:lnSpc>
              <a:spcAft>
                <a:spcPts val="600"/>
              </a:spcAft>
            </a:pPr>
            <a:r>
              <a:rPr sz="2200" b="0">
                <a:solidFill>
                  <a:srgbClr val="1A1A1A"/>
                </a:solidFill>
                <a:latin typeface="Times New Roman"/>
              </a:rPr>
              <a:t>Build a tiered store (short-term, working, long-term) that moves information between levels much like an OS moves data between cache, RAM, and disk, with a forgetting rule and a way to bring a dropped memory back when it is relevant again.</a:t>
            </a:r>
          </a:p>
          <a:p>
            <a:pPr algn="l">
              <a:lnSpc>
                <a:spcPct val="100000"/>
              </a:lnSpc>
              <a:spcBef>
                <a:spcPts val="1000"/>
              </a:spcBef>
              <a:spcAft>
                <a:spcPts val="300"/>
              </a:spcAft>
            </a:pPr>
            <a:r>
              <a:rPr sz="2600" b="1">
                <a:solidFill>
                  <a:srgbClr val="1A1A1A"/>
                </a:solidFill>
                <a:latin typeface="Times New Roman"/>
              </a:rPr>
              <a:t>Objective 3: Evaluation on long tasks</a:t>
            </a:r>
          </a:p>
          <a:p>
            <a:pPr algn="l">
              <a:lnSpc>
                <a:spcPct val="103000"/>
              </a:lnSpc>
              <a:spcAft>
                <a:spcPts val="600"/>
              </a:spcAft>
            </a:pPr>
            <a:r>
              <a:rPr sz="2200" b="0">
                <a:solidFill>
                  <a:srgbClr val="1A1A1A"/>
                </a:solidFill>
                <a:latin typeface="Times New Roman"/>
              </a:rPr>
              <a:t>Test on long, multi-session agent tasks and report the trade-off between tokens saved and answer quality, using measures such as tokens per turn, latency, retrieval accuracy, and task success.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603504"/>
            <a:ext cx="16642080" cy="1371600"/>
          </a:xfrm>
        </p:spPr>
        <p:txBody>
          <a:bodyPr wrap="square" anchor="ctr">
            <a:noAutofit/>
          </a:bodyPr>
          <a:lstStyle/>
          <a:p>
            <a:pPr algn="ctr"/>
            <a:r>
              <a:rPr sz="4200" b="1">
                <a:solidFill>
                  <a:srgbClr val="111111"/>
                </a:solidFill>
                <a:latin typeface="Times New Roman"/>
              </a:rPr>
              <a:t>Scope of the Project</a:t>
            </a:r>
          </a:p>
        </p:txBody>
      </p:sp>
      <p:sp>
        <p:nvSpPr>
          <p:cNvPr id="3" name="TextBox 2"/>
          <p:cNvSpPr txBox="1"/>
          <p:nvPr/>
        </p:nvSpPr>
        <p:spPr>
          <a:xfrm>
            <a:off x="914400" y="2286000"/>
            <a:ext cx="16459200" cy="7132320"/>
          </a:xfrm>
          <a:prstGeom prst="rect">
            <a:avLst/>
          </a:prstGeom>
          <a:noFill/>
        </p:spPr>
        <p:txBody>
          <a:bodyPr wrap="square">
            <a:spAutoFit/>
          </a:bodyPr>
          <a:lstStyle/>
          <a:p>
            <a:pPr algn="just">
              <a:lnSpc>
                <a:spcPct val="103000"/>
              </a:lnSpc>
              <a:spcAft>
                <a:spcPts val="1200"/>
              </a:spcAft>
            </a:pPr>
            <a:r>
              <a:rPr sz="2200" b="1">
                <a:solidFill>
                  <a:srgbClr val="C1272D"/>
                </a:solidFill>
                <a:latin typeface="Times New Roman"/>
              </a:rPr>
              <a:t>Project definition:  </a:t>
            </a:r>
            <a:r>
              <a:rPr sz="2200" b="0">
                <a:solidFill>
                  <a:srgbClr val="1A1A1A"/>
                </a:solidFill>
                <a:latin typeface="Times New Roman"/>
              </a:rPr>
              <a:t>MemGate is a software layer that wraps an existing LLM (run locally or reached through an API) and controls what enters the prompt on each turn, treating the base model as a black box.</a:t>
            </a:r>
          </a:p>
          <a:p>
            <a:pPr algn="l">
              <a:lnSpc>
                <a:spcPct val="100000"/>
              </a:lnSpc>
              <a:spcBef>
                <a:spcPts val="400"/>
              </a:spcBef>
              <a:spcAft>
                <a:spcPts val="400"/>
              </a:spcAft>
            </a:pPr>
            <a:r>
              <a:rPr sz="2300" b="1">
                <a:solidFill>
                  <a:srgbClr val="1A1A1A"/>
                </a:solidFill>
                <a:latin typeface="Times New Roman"/>
              </a:rPr>
              <a:t>In scope</a:t>
            </a:r>
          </a:p>
          <a:p>
            <a:pPr algn="l">
              <a:lnSpc>
                <a:spcPct val="102000"/>
              </a:lnSpc>
              <a:spcAft>
                <a:spcPts val="400"/>
              </a:spcAft>
            </a:pPr>
            <a:r>
              <a:rPr sz="2100" b="0">
                <a:solidFill>
                  <a:srgbClr val="C1272D"/>
                </a:solidFill>
                <a:latin typeface="Times New Roman"/>
              </a:rPr>
              <a:t>•  </a:t>
            </a:r>
            <a:r>
              <a:rPr sz="2100" b="0">
                <a:solidFill>
                  <a:srgbClr val="1A1A1A"/>
                </a:solidFill>
                <a:latin typeface="Times New Roman"/>
              </a:rPr>
              <a:t>A controller that scores, compresses, stores, forgets, and retrieves conversational memory</a:t>
            </a:r>
          </a:p>
          <a:p>
            <a:pPr algn="l">
              <a:lnSpc>
                <a:spcPct val="102000"/>
              </a:lnSpc>
              <a:spcAft>
                <a:spcPts val="400"/>
              </a:spcAft>
            </a:pPr>
            <a:r>
              <a:rPr sz="2100" b="0">
                <a:solidFill>
                  <a:srgbClr val="C1272D"/>
                </a:solidFill>
                <a:latin typeface="Times New Roman"/>
              </a:rPr>
              <a:t>•  </a:t>
            </a:r>
            <a:r>
              <a:rPr sz="2100" b="0">
                <a:solidFill>
                  <a:srgbClr val="1A1A1A"/>
                </a:solidFill>
                <a:latin typeface="Times New Roman"/>
              </a:rPr>
              <a:t>A three-tier store: short-term buffer, summarized working memory, and a vector-backed long-term store</a:t>
            </a:r>
          </a:p>
          <a:p>
            <a:pPr algn="l">
              <a:lnSpc>
                <a:spcPct val="102000"/>
              </a:lnSpc>
              <a:spcAft>
                <a:spcPts val="400"/>
              </a:spcAft>
            </a:pPr>
            <a:r>
              <a:rPr sz="2100" b="0">
                <a:solidFill>
                  <a:srgbClr val="C1272D"/>
                </a:solidFill>
                <a:latin typeface="Times New Roman"/>
              </a:rPr>
              <a:t>•  </a:t>
            </a:r>
            <a:r>
              <a:rPr sz="2100" b="0">
                <a:solidFill>
                  <a:srgbClr val="1A1A1A"/>
                </a:solidFill>
                <a:latin typeface="Times New Roman"/>
              </a:rPr>
              <a:t>Testing with at least one open model and one hosted API</a:t>
            </a:r>
          </a:p>
          <a:p>
            <a:pPr algn="l">
              <a:lnSpc>
                <a:spcPct val="102000"/>
              </a:lnSpc>
              <a:spcAft>
                <a:spcPts val="400"/>
              </a:spcAft>
            </a:pPr>
            <a:r>
              <a:rPr sz="2100" b="0">
                <a:solidFill>
                  <a:srgbClr val="C1272D"/>
                </a:solidFill>
                <a:latin typeface="Times New Roman"/>
              </a:rPr>
              <a:t>•  </a:t>
            </a:r>
            <a:r>
              <a:rPr sz="2100" b="0">
                <a:solidFill>
                  <a:srgbClr val="1A1A1A"/>
                </a:solidFill>
                <a:latin typeface="Times New Roman"/>
              </a:rPr>
              <a:t>Evaluation on long-conversation and multi-session benchmarks</a:t>
            </a:r>
          </a:p>
          <a:p>
            <a:pPr algn="l">
              <a:lnSpc>
                <a:spcPct val="100000"/>
              </a:lnSpc>
              <a:spcBef>
                <a:spcPts val="1000"/>
              </a:spcBef>
              <a:spcAft>
                <a:spcPts val="400"/>
              </a:spcAft>
            </a:pPr>
            <a:r>
              <a:rPr sz="2300" b="1">
                <a:solidFill>
                  <a:srgbClr val="1A1A1A"/>
                </a:solidFill>
                <a:latin typeface="Times New Roman"/>
              </a:rPr>
              <a:t>Out of scope (for now)</a:t>
            </a:r>
          </a:p>
          <a:p>
            <a:pPr algn="l">
              <a:lnSpc>
                <a:spcPct val="102000"/>
              </a:lnSpc>
              <a:spcAft>
                <a:spcPts val="400"/>
              </a:spcAft>
            </a:pPr>
            <a:r>
              <a:rPr sz="2100" b="0">
                <a:solidFill>
                  <a:srgbClr val="C1272D"/>
                </a:solidFill>
                <a:latin typeface="Times New Roman"/>
              </a:rPr>
              <a:t>•  </a:t>
            </a:r>
            <a:r>
              <a:rPr sz="2100" b="0">
                <a:solidFill>
                  <a:srgbClr val="1A1A1A"/>
                </a:solidFill>
                <a:latin typeface="Times New Roman"/>
              </a:rPr>
              <a:t>Re-training or fine-tuning the base LLM itself</a:t>
            </a:r>
          </a:p>
          <a:p>
            <a:pPr algn="l">
              <a:lnSpc>
                <a:spcPct val="102000"/>
              </a:lnSpc>
              <a:spcAft>
                <a:spcPts val="400"/>
              </a:spcAft>
            </a:pPr>
            <a:r>
              <a:rPr sz="2100" b="0">
                <a:solidFill>
                  <a:srgbClr val="C1272D"/>
                </a:solidFill>
                <a:latin typeface="Times New Roman"/>
              </a:rPr>
              <a:t>•  </a:t>
            </a:r>
            <a:r>
              <a:rPr sz="2100" b="0">
                <a:solidFill>
                  <a:srgbClr val="1A1A1A"/>
                </a:solidFill>
                <a:latin typeface="Times New Roman"/>
              </a:rPr>
              <a:t>Image or audio memory; this project is text only</a:t>
            </a:r>
          </a:p>
          <a:p>
            <a:pPr algn="l">
              <a:lnSpc>
                <a:spcPct val="102000"/>
              </a:lnSpc>
              <a:spcAft>
                <a:spcPts val="400"/>
              </a:spcAft>
            </a:pPr>
            <a:r>
              <a:rPr sz="2100" b="0">
                <a:solidFill>
                  <a:srgbClr val="C1272D"/>
                </a:solidFill>
                <a:latin typeface="Times New Roman"/>
              </a:rPr>
              <a:t>•  </a:t>
            </a:r>
            <a:r>
              <a:rPr sz="2100" b="0">
                <a:solidFill>
                  <a:srgbClr val="1A1A1A"/>
                </a:solidFill>
                <a:latin typeface="Times New Roman"/>
              </a:rPr>
              <a:t>A polished product or user interface — the deliverable is a working prototype plus results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822960" y="603504"/>
            <a:ext cx="16642080" cy="1371600"/>
          </a:xfrm>
          <a:prstGeom prst="rect">
            <a:avLst/>
          </a:prstGeom>
        </p:spPr>
        <p:txBody>
          <a:bodyPr vert="horz" wrap="square" lIns="0" tIns="110059" rIns="0" bIns="0" rtlCol="0" anchor="ctr">
            <a:noAutofit/>
          </a:bodyPr>
          <a:lstStyle/>
          <a:p>
            <a:pPr marL="1369060" algn="ctr">
              <a:lnSpc>
                <a:spcPct val="100000"/>
              </a:lnSpc>
              <a:spcBef>
                <a:spcPts val="100"/>
              </a:spcBef>
            </a:pPr>
            <a:r>
              <a:rPr sz="4200" b="1" dirty="0">
                <a:solidFill>
                  <a:srgbClr val="111111"/>
                </a:solidFill>
                <a:latin typeface="Times New Roman"/>
              </a:rPr>
              <a:t>Proposed System</a:t>
            </a:r>
          </a:p>
        </p:txBody>
      </p:sp>
      <p:sp>
        <p:nvSpPr>
          <p:cNvPr id="6" name="TextBox 5"/>
          <p:cNvSpPr txBox="1"/>
          <p:nvPr/>
        </p:nvSpPr>
        <p:spPr>
          <a:xfrm>
            <a:off x="640080" y="2148840"/>
            <a:ext cx="6400800" cy="365760"/>
          </a:xfrm>
          <a:prstGeom prst="rect">
            <a:avLst/>
          </a:prstGeom>
          <a:noFill/>
        </p:spPr>
        <p:txBody>
          <a:bodyPr wrap="square">
            <a:spAutoFit/>
          </a:bodyPr>
          <a:lstStyle/>
          <a:p>
            <a:r>
              <a:rPr sz="1300" b="1">
                <a:solidFill>
                  <a:srgbClr val="34617C"/>
                </a:solidFill>
                <a:latin typeface="Calibri"/>
              </a:rPr>
              <a:t>MANAGING MEMORY  (write path)</a:t>
            </a:r>
          </a:p>
        </p:txBody>
      </p:sp>
      <p:sp>
        <p:nvSpPr>
          <p:cNvPr id="7" name="Rounded Rectangle 6"/>
          <p:cNvSpPr/>
          <p:nvPr/>
        </p:nvSpPr>
        <p:spPr>
          <a:xfrm>
            <a:off x="640080" y="2743200"/>
            <a:ext cx="2926080" cy="914400"/>
          </a:xfrm>
          <a:prstGeom prst="roundRect">
            <a:avLst>
              <a:gd name="adj" fmla="val 12000"/>
            </a:avLst>
          </a:prstGeom>
          <a:solidFill>
            <a:srgbClr val="2738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600" b="1">
                <a:solidFill>
                  <a:srgbClr val="FFFFFF"/>
                </a:solidFill>
                <a:latin typeface="Calibri"/>
              </a:rPr>
              <a:t>Incoming turn</a:t>
            </a:r>
          </a:p>
        </p:txBody>
      </p:sp>
      <p:sp>
        <p:nvSpPr>
          <p:cNvPr id="8" name="Rounded Rectangle 7"/>
          <p:cNvSpPr/>
          <p:nvPr/>
        </p:nvSpPr>
        <p:spPr>
          <a:xfrm>
            <a:off x="502920" y="4206240"/>
            <a:ext cx="3200400" cy="1143000"/>
          </a:xfrm>
          <a:prstGeom prst="roundRect">
            <a:avLst>
              <a:gd name="adj" fmla="val 12000"/>
            </a:avLst>
          </a:prstGeom>
          <a:solidFill>
            <a:srgbClr val="3461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400" b="1">
                <a:solidFill>
                  <a:srgbClr val="FFFFFF"/>
                </a:solidFill>
                <a:latin typeface="Calibri"/>
              </a:rPr>
              <a:t>Adaptive Memory</a:t>
            </a:r>
          </a:p>
          <a:p>
            <a:pPr algn="ctr">
              <a:lnSpc>
                <a:spcPct val="95000"/>
              </a:lnSpc>
            </a:pPr>
            <a:r>
              <a:rPr sz="1400" b="1">
                <a:solidFill>
                  <a:srgbClr val="FFFFFF"/>
                </a:solidFill>
                <a:latin typeface="Calibri"/>
              </a:rPr>
              <a:t>Decision Engine</a:t>
            </a:r>
          </a:p>
        </p:txBody>
      </p:sp>
      <p:cxnSp>
        <p:nvCxnSpPr>
          <p:cNvPr id="9" name="Connector 8"/>
          <p:cNvCxnSpPr/>
          <p:nvPr/>
        </p:nvCxnSpPr>
        <p:spPr>
          <a:xfrm>
            <a:off x="2103120" y="3657600"/>
            <a:ext cx="0" cy="548640"/>
          </a:xfrm>
          <a:prstGeom prst="line">
            <a:avLst/>
          </a:prstGeom>
          <a:ln w="22225">
            <a:solidFill>
              <a:srgbClr val="27384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43400" y="2651760"/>
            <a:ext cx="3200400" cy="914400"/>
          </a:xfrm>
          <a:prstGeom prst="roundRect">
            <a:avLst>
              <a:gd name="adj" fmla="val 12000"/>
            </a:avLst>
          </a:prstGeom>
          <a:solidFill>
            <a:srgbClr val="E7F2EB"/>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600" b="1">
                <a:solidFill>
                  <a:srgbClr val="24583E"/>
                </a:solidFill>
                <a:latin typeface="Calibri"/>
              </a:rPr>
              <a:t>Keep in full</a:t>
            </a:r>
          </a:p>
        </p:txBody>
      </p:sp>
      <p:sp>
        <p:nvSpPr>
          <p:cNvPr id="11" name="Rounded Rectangle 10"/>
          <p:cNvSpPr/>
          <p:nvPr/>
        </p:nvSpPr>
        <p:spPr>
          <a:xfrm>
            <a:off x="4343400" y="3977639"/>
            <a:ext cx="3200400" cy="914400"/>
          </a:xfrm>
          <a:prstGeom prst="roundRect">
            <a:avLst>
              <a:gd name="adj" fmla="val 12000"/>
            </a:avLst>
          </a:prstGeom>
          <a:solidFill>
            <a:srgbClr val="E7EEF5"/>
          </a:solidFill>
          <a:ln w="15875">
            <a:solidFill>
              <a:srgbClr val="34617C"/>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500" b="1">
                <a:solidFill>
                  <a:srgbClr val="274E64"/>
                </a:solidFill>
                <a:latin typeface="Calibri"/>
              </a:rPr>
              <a:t>Summarize &amp; compress</a:t>
            </a:r>
          </a:p>
        </p:txBody>
      </p:sp>
      <p:sp>
        <p:nvSpPr>
          <p:cNvPr id="12" name="Rounded Rectangle 11"/>
          <p:cNvSpPr/>
          <p:nvPr/>
        </p:nvSpPr>
        <p:spPr>
          <a:xfrm>
            <a:off x="4343400" y="5303520"/>
            <a:ext cx="3200400" cy="914400"/>
          </a:xfrm>
          <a:prstGeom prst="roundRect">
            <a:avLst>
              <a:gd name="adj" fmla="val 12000"/>
            </a:avLst>
          </a:prstGeom>
          <a:solidFill>
            <a:srgbClr val="F6E7E7"/>
          </a:solidFill>
          <a:ln w="15875">
            <a:solidFill>
              <a:srgbClr val="C1272D"/>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400" b="1">
                <a:solidFill>
                  <a:srgbClr val="9A1F24"/>
                </a:solidFill>
                <a:latin typeface="Calibri"/>
              </a:rPr>
              <a:t>Forget  (drop from context)</a:t>
            </a:r>
          </a:p>
        </p:txBody>
      </p:sp>
      <p:cxnSp>
        <p:nvCxnSpPr>
          <p:cNvPr id="13" name="Connector 12"/>
          <p:cNvCxnSpPr/>
          <p:nvPr/>
        </p:nvCxnSpPr>
        <p:spPr>
          <a:xfrm flipV="1">
            <a:off x="3703320" y="3108960"/>
            <a:ext cx="640080" cy="1664208"/>
          </a:xfrm>
          <a:prstGeom prst="line">
            <a:avLst/>
          </a:prstGeom>
          <a:ln w="22225">
            <a:solidFill>
              <a:srgbClr val="6B76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703320" y="4434840"/>
            <a:ext cx="640080" cy="338328"/>
          </a:xfrm>
          <a:prstGeom prst="line">
            <a:avLst/>
          </a:prstGeom>
          <a:ln w="22225">
            <a:solidFill>
              <a:srgbClr val="6B76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703320" y="4773168"/>
            <a:ext cx="640080" cy="987552"/>
          </a:xfrm>
          <a:prstGeom prst="line">
            <a:avLst/>
          </a:prstGeom>
          <a:ln w="22225">
            <a:solidFill>
              <a:srgbClr val="6B768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052560" y="2606040"/>
            <a:ext cx="4389120" cy="4114800"/>
          </a:xfrm>
          <a:prstGeom prst="roundRect">
            <a:avLst>
              <a:gd name="adj" fmla="val 12000"/>
            </a:avLst>
          </a:prstGeom>
          <a:solidFill>
            <a:srgbClr val="F1F3F6"/>
          </a:solidFill>
          <a:ln w="15875">
            <a:solidFill>
              <a:srgbClr val="34617C"/>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17" name="TextBox 16"/>
          <p:cNvSpPr txBox="1"/>
          <p:nvPr/>
        </p:nvSpPr>
        <p:spPr>
          <a:xfrm>
            <a:off x="9052560" y="2697480"/>
            <a:ext cx="4389120" cy="457200"/>
          </a:xfrm>
          <a:prstGeom prst="rect">
            <a:avLst/>
          </a:prstGeom>
          <a:noFill/>
        </p:spPr>
        <p:txBody>
          <a:bodyPr wrap="square">
            <a:spAutoFit/>
          </a:bodyPr>
          <a:lstStyle/>
          <a:p>
            <a:pPr algn="ctr"/>
            <a:r>
              <a:rPr sz="1700" b="1">
                <a:solidFill>
                  <a:srgbClr val="1A1A1A"/>
                </a:solidFill>
                <a:latin typeface="Times New Roman"/>
              </a:rPr>
              <a:t>Tiered memory store</a:t>
            </a:r>
          </a:p>
        </p:txBody>
      </p:sp>
      <p:sp>
        <p:nvSpPr>
          <p:cNvPr id="18" name="Rounded Rectangle 17"/>
          <p:cNvSpPr/>
          <p:nvPr/>
        </p:nvSpPr>
        <p:spPr>
          <a:xfrm>
            <a:off x="9326880" y="3291840"/>
            <a:ext cx="3840480" cy="914400"/>
          </a:xfrm>
          <a:prstGeom prst="roundRect">
            <a:avLst>
              <a:gd name="adj" fmla="val 12000"/>
            </a:avLst>
          </a:prstGeom>
          <a:solidFill>
            <a:srgbClr val="3461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500" b="1">
                <a:solidFill>
                  <a:srgbClr val="FFFFFF"/>
                </a:solidFill>
                <a:latin typeface="Calibri"/>
              </a:rPr>
              <a:t>Short-term buffer</a:t>
            </a:r>
          </a:p>
        </p:txBody>
      </p:sp>
      <p:sp>
        <p:nvSpPr>
          <p:cNvPr id="19" name="Rounded Rectangle 18"/>
          <p:cNvSpPr/>
          <p:nvPr/>
        </p:nvSpPr>
        <p:spPr>
          <a:xfrm>
            <a:off x="9326880" y="4343400"/>
            <a:ext cx="3840480" cy="914400"/>
          </a:xfrm>
          <a:prstGeom prst="roundRect">
            <a:avLst>
              <a:gd name="adj" fmla="val 12000"/>
            </a:avLst>
          </a:prstGeom>
          <a:solidFill>
            <a:srgbClr val="4E7C9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400" b="1">
                <a:solidFill>
                  <a:srgbClr val="FFFFFF"/>
                </a:solidFill>
                <a:latin typeface="Calibri"/>
              </a:rPr>
              <a:t>Working memory (summaries)</a:t>
            </a:r>
          </a:p>
        </p:txBody>
      </p:sp>
      <p:sp>
        <p:nvSpPr>
          <p:cNvPr id="20" name="Rounded Rectangle 19"/>
          <p:cNvSpPr/>
          <p:nvPr/>
        </p:nvSpPr>
        <p:spPr>
          <a:xfrm>
            <a:off x="9326880" y="5394960"/>
            <a:ext cx="3840480" cy="914400"/>
          </a:xfrm>
          <a:prstGeom prst="roundRect">
            <a:avLst>
              <a:gd name="adj" fmla="val 12000"/>
            </a:avLst>
          </a:prstGeom>
          <a:solidFill>
            <a:srgbClr val="6E9AA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400" b="1">
                <a:solidFill>
                  <a:srgbClr val="FFFFFF"/>
                </a:solidFill>
                <a:latin typeface="Calibri"/>
              </a:rPr>
              <a:t>Long-term store (vector DB)</a:t>
            </a:r>
          </a:p>
        </p:txBody>
      </p:sp>
      <p:cxnSp>
        <p:nvCxnSpPr>
          <p:cNvPr id="21" name="Connector 20"/>
          <p:cNvCxnSpPr/>
          <p:nvPr/>
        </p:nvCxnSpPr>
        <p:spPr>
          <a:xfrm>
            <a:off x="7543800" y="3108960"/>
            <a:ext cx="1508760" cy="640079"/>
          </a:xfrm>
          <a:prstGeom prst="line">
            <a:avLst/>
          </a:prstGeom>
          <a:ln w="22225">
            <a:solidFill>
              <a:srgbClr val="2E6B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543800" y="4434840"/>
            <a:ext cx="1508760" cy="365760"/>
          </a:xfrm>
          <a:prstGeom prst="line">
            <a:avLst/>
          </a:prstGeom>
          <a:ln w="22225">
            <a:solidFill>
              <a:srgbClr val="3461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7040880"/>
            <a:ext cx="6400800" cy="365760"/>
          </a:xfrm>
          <a:prstGeom prst="rect">
            <a:avLst/>
          </a:prstGeom>
          <a:noFill/>
        </p:spPr>
        <p:txBody>
          <a:bodyPr wrap="square">
            <a:spAutoFit/>
          </a:bodyPr>
          <a:lstStyle/>
          <a:p>
            <a:r>
              <a:rPr sz="1300" b="1">
                <a:solidFill>
                  <a:srgbClr val="C1272D"/>
                </a:solidFill>
                <a:latin typeface="Calibri"/>
              </a:rPr>
              <a:t>USING MEMORY  (read path)</a:t>
            </a:r>
          </a:p>
        </p:txBody>
      </p:sp>
      <p:sp>
        <p:nvSpPr>
          <p:cNvPr id="24" name="Rounded Rectangle 23"/>
          <p:cNvSpPr/>
          <p:nvPr/>
        </p:nvSpPr>
        <p:spPr>
          <a:xfrm>
            <a:off x="640080" y="7498079"/>
            <a:ext cx="2743200" cy="960120"/>
          </a:xfrm>
          <a:prstGeom prst="roundRect">
            <a:avLst>
              <a:gd name="adj" fmla="val 12000"/>
            </a:avLst>
          </a:prstGeom>
          <a:solidFill>
            <a:srgbClr val="2738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600" b="1">
                <a:solidFill>
                  <a:srgbClr val="FFFFFF"/>
                </a:solidFill>
                <a:latin typeface="Calibri"/>
              </a:rPr>
              <a:t>New query</a:t>
            </a:r>
          </a:p>
        </p:txBody>
      </p:sp>
      <p:sp>
        <p:nvSpPr>
          <p:cNvPr id="25" name="Rounded Rectangle 24"/>
          <p:cNvSpPr/>
          <p:nvPr/>
        </p:nvSpPr>
        <p:spPr>
          <a:xfrm>
            <a:off x="3657600" y="7498079"/>
            <a:ext cx="3291840" cy="960120"/>
          </a:xfrm>
          <a:prstGeom prst="roundRect">
            <a:avLst>
              <a:gd name="adj" fmla="val 12000"/>
            </a:avLst>
          </a:prstGeom>
          <a:solidFill>
            <a:srgbClr val="FFFFFF"/>
          </a:solidFill>
          <a:ln w="15875">
            <a:solidFill>
              <a:srgbClr val="34617C"/>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500" b="1">
                <a:solidFill>
                  <a:srgbClr val="274E64"/>
                </a:solidFill>
                <a:latin typeface="Calibri"/>
              </a:rPr>
              <a:t>Retrieve relevant memory</a:t>
            </a:r>
          </a:p>
        </p:txBody>
      </p:sp>
      <p:sp>
        <p:nvSpPr>
          <p:cNvPr id="26" name="Rounded Rectangle 25"/>
          <p:cNvSpPr/>
          <p:nvPr/>
        </p:nvSpPr>
        <p:spPr>
          <a:xfrm>
            <a:off x="7223760" y="7498079"/>
            <a:ext cx="4206240" cy="960120"/>
          </a:xfrm>
          <a:prstGeom prst="roundRect">
            <a:avLst>
              <a:gd name="adj" fmla="val 12000"/>
            </a:avLst>
          </a:prstGeom>
          <a:solidFill>
            <a:srgbClr val="E7F2EB"/>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500" b="1">
                <a:solidFill>
                  <a:srgbClr val="24583E"/>
                </a:solidFill>
                <a:latin typeface="Calibri"/>
              </a:rPr>
              <a:t>Assemble context within token budget</a:t>
            </a:r>
          </a:p>
        </p:txBody>
      </p:sp>
      <p:sp>
        <p:nvSpPr>
          <p:cNvPr id="27" name="Rounded Rectangle 26"/>
          <p:cNvSpPr/>
          <p:nvPr/>
        </p:nvSpPr>
        <p:spPr>
          <a:xfrm>
            <a:off x="11704320" y="7498079"/>
            <a:ext cx="1828800" cy="960120"/>
          </a:xfrm>
          <a:prstGeom prst="roundRect">
            <a:avLst>
              <a:gd name="adj" fmla="val 12000"/>
            </a:avLst>
          </a:prstGeom>
          <a:solidFill>
            <a:srgbClr val="3461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800" b="1">
                <a:solidFill>
                  <a:srgbClr val="FFFFFF"/>
                </a:solidFill>
                <a:latin typeface="Calibri"/>
              </a:rPr>
              <a:t>LLM</a:t>
            </a:r>
          </a:p>
        </p:txBody>
      </p:sp>
      <p:sp>
        <p:nvSpPr>
          <p:cNvPr id="28" name="Rounded Rectangle 27"/>
          <p:cNvSpPr/>
          <p:nvPr/>
        </p:nvSpPr>
        <p:spPr>
          <a:xfrm>
            <a:off x="13807440" y="7498079"/>
            <a:ext cx="2834640" cy="960120"/>
          </a:xfrm>
          <a:prstGeom prst="roundRect">
            <a:avLst>
              <a:gd name="adj" fmla="val 12000"/>
            </a:avLst>
          </a:prstGeom>
          <a:solidFill>
            <a:srgbClr val="2738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700" b="1">
                <a:solidFill>
                  <a:srgbClr val="FFFFFF"/>
                </a:solidFill>
                <a:latin typeface="Calibri"/>
              </a:rPr>
              <a:t>Response</a:t>
            </a:r>
          </a:p>
        </p:txBody>
      </p:sp>
      <p:cxnSp>
        <p:nvCxnSpPr>
          <p:cNvPr id="29" name="Connector 28"/>
          <p:cNvCxnSpPr/>
          <p:nvPr/>
        </p:nvCxnSpPr>
        <p:spPr>
          <a:xfrm>
            <a:off x="3383280" y="7978140"/>
            <a:ext cx="274320" cy="0"/>
          </a:xfrm>
          <a:prstGeom prst="line">
            <a:avLst/>
          </a:prstGeom>
          <a:ln w="22225">
            <a:solidFill>
              <a:srgbClr val="6B76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949440" y="7978140"/>
            <a:ext cx="274320" cy="0"/>
          </a:xfrm>
          <a:prstGeom prst="line">
            <a:avLst/>
          </a:prstGeom>
          <a:ln w="22225">
            <a:solidFill>
              <a:srgbClr val="6B76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430000" y="7978140"/>
            <a:ext cx="274320" cy="0"/>
          </a:xfrm>
          <a:prstGeom prst="line">
            <a:avLst/>
          </a:prstGeom>
          <a:ln w="22225">
            <a:solidFill>
              <a:srgbClr val="6B76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533120" y="7978140"/>
            <a:ext cx="274320" cy="0"/>
          </a:xfrm>
          <a:prstGeom prst="line">
            <a:avLst/>
          </a:prstGeom>
          <a:ln w="22225">
            <a:solidFill>
              <a:srgbClr val="6B768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9692640" y="6720840"/>
            <a:ext cx="1554480" cy="777239"/>
          </a:xfrm>
          <a:prstGeom prst="line">
            <a:avLst/>
          </a:prstGeom>
          <a:ln w="22225">
            <a:solidFill>
              <a:srgbClr val="C1272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601200" y="6784848"/>
            <a:ext cx="2194560" cy="320040"/>
          </a:xfrm>
          <a:prstGeom prst="rect">
            <a:avLst/>
          </a:prstGeom>
          <a:noFill/>
        </p:spPr>
        <p:txBody>
          <a:bodyPr wrap="square">
            <a:spAutoFit/>
          </a:bodyPr>
          <a:lstStyle/>
          <a:p>
            <a:r>
              <a:rPr sz="1100" i="1">
                <a:solidFill>
                  <a:srgbClr val="C1272D"/>
                </a:solidFill>
                <a:latin typeface="Calibri"/>
              </a:rPr>
              <a:t>recalled memory</a:t>
            </a:r>
          </a:p>
        </p:txBody>
      </p:sp>
      <p:sp>
        <p:nvSpPr>
          <p:cNvPr id="35" name="Rounded Rectangle 34"/>
          <p:cNvSpPr/>
          <p:nvPr/>
        </p:nvSpPr>
        <p:spPr>
          <a:xfrm>
            <a:off x="13761720" y="2606040"/>
            <a:ext cx="3886200" cy="3840480"/>
          </a:xfrm>
          <a:prstGeom prst="roundRect">
            <a:avLst>
              <a:gd name="adj" fmla="val 12000"/>
            </a:avLst>
          </a:prstGeom>
          <a:solidFill>
            <a:srgbClr val="F1F3F6"/>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t"/>
          <a:lstStyle/>
          <a:p>
            <a:pPr algn="l">
              <a:lnSpc>
                <a:spcPct val="95000"/>
              </a:lnSpc>
            </a:pPr>
            <a:r>
              <a:rPr sz="1400" b="1">
                <a:solidFill>
                  <a:srgbClr val="1A1A1A"/>
                </a:solidFill>
                <a:latin typeface="Times New Roman"/>
              </a:rPr>
              <a:t>How to read it</a:t>
            </a:r>
          </a:p>
          <a:p>
            <a:pPr algn="l">
              <a:lnSpc>
                <a:spcPct val="105000"/>
              </a:lnSpc>
              <a:spcBef>
                <a:spcPts val="600"/>
              </a:spcBef>
            </a:pPr>
            <a:r>
              <a:rPr sz="1300">
                <a:solidFill>
                  <a:srgbClr val="45525F"/>
                </a:solidFill>
                <a:latin typeface="Calibri"/>
              </a:rPr>
              <a:t>Each turn is scored by the decision engine, then kept, summarized, or forgotten. Kept and summarized items live in the three tiers. When a new query needs old information, the retriever pulls it back and the assembler rebuilds a context that fits the budget before the model runs.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603504"/>
            <a:ext cx="16642080" cy="1371600"/>
          </a:xfrm>
        </p:spPr>
        <p:txBody>
          <a:bodyPr wrap="square" anchor="ctr">
            <a:noAutofit/>
          </a:bodyPr>
          <a:lstStyle/>
          <a:p>
            <a:pPr algn="ctr"/>
            <a:r>
              <a:rPr sz="4200" b="1">
                <a:solidFill>
                  <a:srgbClr val="111111"/>
                </a:solidFill>
                <a:latin typeface="Times New Roman"/>
              </a:rPr>
              <a:t>System Architecture</a:t>
            </a:r>
          </a:p>
        </p:txBody>
      </p:sp>
      <p:sp>
        <p:nvSpPr>
          <p:cNvPr id="3" name="Rounded Rectangle 2"/>
          <p:cNvSpPr/>
          <p:nvPr/>
        </p:nvSpPr>
        <p:spPr>
          <a:xfrm>
            <a:off x="640080" y="2331720"/>
            <a:ext cx="17007840" cy="960120"/>
          </a:xfrm>
          <a:prstGeom prst="roundRect">
            <a:avLst>
              <a:gd name="adj" fmla="val 12000"/>
            </a:avLst>
          </a:prstGeom>
          <a:solidFill>
            <a:srgbClr val="E7EEF5"/>
          </a:solidFill>
          <a:ln w="15875">
            <a:solidFill>
              <a:srgbClr val="34617C"/>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500" b="1">
                <a:solidFill>
                  <a:srgbClr val="274E64"/>
                </a:solidFill>
                <a:latin typeface="Calibri"/>
              </a:rPr>
              <a:t>Agent / Application Layer   —   the LLM agent that produces and consumes turns (coding assistant, research agent, chatbot)</a:t>
            </a:r>
          </a:p>
        </p:txBody>
      </p:sp>
      <p:sp>
        <p:nvSpPr>
          <p:cNvPr id="4" name="Rounded Rectangle 3"/>
          <p:cNvSpPr/>
          <p:nvPr/>
        </p:nvSpPr>
        <p:spPr>
          <a:xfrm>
            <a:off x="640080" y="3703320"/>
            <a:ext cx="12207240" cy="2697480"/>
          </a:xfrm>
          <a:prstGeom prst="roundRect">
            <a:avLst>
              <a:gd name="adj" fmla="val 12000"/>
            </a:avLst>
          </a:prstGeom>
          <a:solidFill>
            <a:srgbClr val="FCF3F3"/>
          </a:solidFill>
          <a:ln w="15875">
            <a:solidFill>
              <a:srgbClr val="C1272D"/>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5" name="TextBox 4"/>
          <p:cNvSpPr txBox="1"/>
          <p:nvPr/>
        </p:nvSpPr>
        <p:spPr>
          <a:xfrm>
            <a:off x="731520" y="3767328"/>
            <a:ext cx="12024360" cy="457200"/>
          </a:xfrm>
          <a:prstGeom prst="rect">
            <a:avLst/>
          </a:prstGeom>
          <a:noFill/>
        </p:spPr>
        <p:txBody>
          <a:bodyPr wrap="square">
            <a:spAutoFit/>
          </a:bodyPr>
          <a:lstStyle/>
          <a:p>
            <a:pPr algn="ctr"/>
            <a:r>
              <a:rPr sz="1600" b="1">
                <a:solidFill>
                  <a:srgbClr val="C1272D"/>
                </a:solidFill>
                <a:latin typeface="Times New Roman"/>
              </a:rPr>
              <a:t>MemGate — Memory-Management Layer</a:t>
            </a:r>
          </a:p>
        </p:txBody>
      </p:sp>
      <p:sp>
        <p:nvSpPr>
          <p:cNvPr id="6" name="Rounded Rectangle 5"/>
          <p:cNvSpPr/>
          <p:nvPr/>
        </p:nvSpPr>
        <p:spPr>
          <a:xfrm>
            <a:off x="868680" y="4370832"/>
            <a:ext cx="2743200" cy="1783080"/>
          </a:xfrm>
          <a:prstGeom prst="roundRect">
            <a:avLst>
              <a:gd name="adj" fmla="val 12000"/>
            </a:avLst>
          </a:prstGeom>
          <a:solidFill>
            <a:srgbClr val="3461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300" b="1">
                <a:solidFill>
                  <a:srgbClr val="FFFFFF"/>
                </a:solidFill>
                <a:latin typeface="Calibri"/>
              </a:rPr>
              <a:t>Adaptive Memory</a:t>
            </a:r>
          </a:p>
          <a:p>
            <a:pPr algn="ctr">
              <a:lnSpc>
                <a:spcPct val="95000"/>
              </a:lnSpc>
            </a:pPr>
            <a:r>
              <a:rPr sz="1300" b="1">
                <a:solidFill>
                  <a:srgbClr val="FFFFFF"/>
                </a:solidFill>
                <a:latin typeface="Calibri"/>
              </a:rPr>
              <a:t>Decision Engine</a:t>
            </a:r>
          </a:p>
          <a:p>
            <a:pPr algn="ctr">
              <a:lnSpc>
                <a:spcPct val="95000"/>
              </a:lnSpc>
            </a:pPr>
            <a:r>
              <a:rPr sz="1300" b="1">
                <a:solidFill>
                  <a:srgbClr val="FFFFFF"/>
                </a:solidFill>
                <a:latin typeface="Calibri"/>
              </a:rPr>
              <a:t>(score &amp; route)</a:t>
            </a:r>
          </a:p>
        </p:txBody>
      </p:sp>
      <p:sp>
        <p:nvSpPr>
          <p:cNvPr id="7" name="Rounded Rectangle 6"/>
          <p:cNvSpPr/>
          <p:nvPr/>
        </p:nvSpPr>
        <p:spPr>
          <a:xfrm>
            <a:off x="3749039" y="4370832"/>
            <a:ext cx="2743200" cy="1783080"/>
          </a:xfrm>
          <a:prstGeom prst="roundRect">
            <a:avLst>
              <a:gd name="adj" fmla="val 12000"/>
            </a:avLst>
          </a:prstGeom>
          <a:solidFill>
            <a:srgbClr val="4E7C9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300" b="1">
                <a:solidFill>
                  <a:srgbClr val="FFFFFF"/>
                </a:solidFill>
                <a:latin typeface="Calibri"/>
              </a:rPr>
              <a:t>Compressor /</a:t>
            </a:r>
          </a:p>
          <a:p>
            <a:pPr algn="ctr">
              <a:lnSpc>
                <a:spcPct val="95000"/>
              </a:lnSpc>
            </a:pPr>
            <a:r>
              <a:rPr sz="1300" b="1">
                <a:solidFill>
                  <a:srgbClr val="FFFFFF"/>
                </a:solidFill>
                <a:latin typeface="Calibri"/>
              </a:rPr>
              <a:t>Summarizer</a:t>
            </a:r>
          </a:p>
        </p:txBody>
      </p:sp>
      <p:sp>
        <p:nvSpPr>
          <p:cNvPr id="8" name="Rounded Rectangle 7"/>
          <p:cNvSpPr/>
          <p:nvPr/>
        </p:nvSpPr>
        <p:spPr>
          <a:xfrm>
            <a:off x="6629400" y="4370832"/>
            <a:ext cx="2743200" cy="1783080"/>
          </a:xfrm>
          <a:prstGeom prst="roundRect">
            <a:avLst>
              <a:gd name="adj" fmla="val 12000"/>
            </a:avLst>
          </a:prstGeom>
          <a:solidFill>
            <a:srgbClr val="4E7C9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300" b="1">
                <a:solidFill>
                  <a:srgbClr val="FFFFFF"/>
                </a:solidFill>
                <a:latin typeface="Calibri"/>
              </a:rPr>
              <a:t>Retriever</a:t>
            </a:r>
          </a:p>
          <a:p>
            <a:pPr algn="ctr">
              <a:lnSpc>
                <a:spcPct val="95000"/>
              </a:lnSpc>
            </a:pPr>
            <a:r>
              <a:rPr sz="1300" b="1">
                <a:solidFill>
                  <a:srgbClr val="FFFFFF"/>
                </a:solidFill>
                <a:latin typeface="Calibri"/>
              </a:rPr>
              <a:t>(semantic search)</a:t>
            </a:r>
          </a:p>
        </p:txBody>
      </p:sp>
      <p:sp>
        <p:nvSpPr>
          <p:cNvPr id="9" name="Rounded Rectangle 8"/>
          <p:cNvSpPr/>
          <p:nvPr/>
        </p:nvSpPr>
        <p:spPr>
          <a:xfrm>
            <a:off x="9509759" y="4370832"/>
            <a:ext cx="2743200" cy="1783080"/>
          </a:xfrm>
          <a:prstGeom prst="roundRect">
            <a:avLst>
              <a:gd name="adj" fmla="val 12000"/>
            </a:avLst>
          </a:prstGeom>
          <a:solidFill>
            <a:srgbClr val="2E6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300" b="1">
                <a:solidFill>
                  <a:srgbClr val="FFFFFF"/>
                </a:solidFill>
                <a:latin typeface="Calibri"/>
              </a:rPr>
              <a:t>Context Assembler</a:t>
            </a:r>
          </a:p>
          <a:p>
            <a:pPr algn="ctr">
              <a:lnSpc>
                <a:spcPct val="95000"/>
              </a:lnSpc>
            </a:pPr>
            <a:r>
              <a:rPr sz="1300" b="1">
                <a:solidFill>
                  <a:srgbClr val="FFFFFF"/>
                </a:solidFill>
                <a:latin typeface="Calibri"/>
              </a:rPr>
              <a:t>(token budget)</a:t>
            </a:r>
          </a:p>
        </p:txBody>
      </p:sp>
      <p:sp>
        <p:nvSpPr>
          <p:cNvPr id="10" name="Rounded Rectangle 9"/>
          <p:cNvSpPr/>
          <p:nvPr/>
        </p:nvSpPr>
        <p:spPr>
          <a:xfrm>
            <a:off x="13121640" y="3703320"/>
            <a:ext cx="4526280" cy="2697480"/>
          </a:xfrm>
          <a:prstGeom prst="roundRect">
            <a:avLst>
              <a:gd name="adj" fmla="val 12000"/>
            </a:avLst>
          </a:prstGeom>
          <a:solidFill>
            <a:srgbClr val="F1F3F6"/>
          </a:solidFill>
          <a:ln w="15875">
            <a:solidFill>
              <a:srgbClr val="34617C"/>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11" name="TextBox 10"/>
          <p:cNvSpPr txBox="1"/>
          <p:nvPr/>
        </p:nvSpPr>
        <p:spPr>
          <a:xfrm>
            <a:off x="13167360" y="3767328"/>
            <a:ext cx="4434840" cy="457200"/>
          </a:xfrm>
          <a:prstGeom prst="rect">
            <a:avLst/>
          </a:prstGeom>
          <a:noFill/>
        </p:spPr>
        <p:txBody>
          <a:bodyPr wrap="square">
            <a:spAutoFit/>
          </a:bodyPr>
          <a:lstStyle/>
          <a:p>
            <a:pPr algn="ctr"/>
            <a:r>
              <a:rPr sz="1500" b="1">
                <a:solidFill>
                  <a:srgbClr val="1A1A1A"/>
                </a:solidFill>
                <a:latin typeface="Times New Roman"/>
              </a:rPr>
              <a:t>Memory Store</a:t>
            </a:r>
          </a:p>
        </p:txBody>
      </p:sp>
      <p:sp>
        <p:nvSpPr>
          <p:cNvPr id="12" name="Rounded Rectangle 11"/>
          <p:cNvSpPr/>
          <p:nvPr/>
        </p:nvSpPr>
        <p:spPr>
          <a:xfrm>
            <a:off x="13350240" y="4370832"/>
            <a:ext cx="4069080" cy="548640"/>
          </a:xfrm>
          <a:prstGeom prst="roundRect">
            <a:avLst>
              <a:gd name="adj" fmla="val 12000"/>
            </a:avLst>
          </a:prstGeom>
          <a:solidFill>
            <a:srgbClr val="3461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200" b="1">
                <a:solidFill>
                  <a:srgbClr val="FFFFFF"/>
                </a:solidFill>
                <a:latin typeface="Calibri"/>
              </a:rPr>
              <a:t>Short-term buffer</a:t>
            </a:r>
          </a:p>
        </p:txBody>
      </p:sp>
      <p:sp>
        <p:nvSpPr>
          <p:cNvPr id="13" name="Rounded Rectangle 12"/>
          <p:cNvSpPr/>
          <p:nvPr/>
        </p:nvSpPr>
        <p:spPr>
          <a:xfrm>
            <a:off x="13350240" y="5029200"/>
            <a:ext cx="4069080" cy="548640"/>
          </a:xfrm>
          <a:prstGeom prst="roundRect">
            <a:avLst>
              <a:gd name="adj" fmla="val 12000"/>
            </a:avLst>
          </a:prstGeom>
          <a:solidFill>
            <a:srgbClr val="4E7C9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200" b="1">
                <a:solidFill>
                  <a:srgbClr val="FFFFFF"/>
                </a:solidFill>
                <a:latin typeface="Calibri"/>
              </a:rPr>
              <a:t>Working memory (summaries)</a:t>
            </a:r>
          </a:p>
        </p:txBody>
      </p:sp>
      <p:sp>
        <p:nvSpPr>
          <p:cNvPr id="14" name="Rounded Rectangle 13"/>
          <p:cNvSpPr/>
          <p:nvPr/>
        </p:nvSpPr>
        <p:spPr>
          <a:xfrm>
            <a:off x="13350240" y="5687568"/>
            <a:ext cx="4069080" cy="548640"/>
          </a:xfrm>
          <a:prstGeom prst="roundRect">
            <a:avLst>
              <a:gd name="adj" fmla="val 12000"/>
            </a:avLst>
          </a:prstGeom>
          <a:solidFill>
            <a:srgbClr val="6E9AA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200" b="1">
                <a:solidFill>
                  <a:srgbClr val="FFFFFF"/>
                </a:solidFill>
                <a:latin typeface="Calibri"/>
              </a:rPr>
              <a:t>Long-term store (vector DB)</a:t>
            </a:r>
          </a:p>
        </p:txBody>
      </p:sp>
      <p:sp>
        <p:nvSpPr>
          <p:cNvPr id="15" name="Rounded Rectangle 14"/>
          <p:cNvSpPr/>
          <p:nvPr/>
        </p:nvSpPr>
        <p:spPr>
          <a:xfrm>
            <a:off x="640080" y="6812280"/>
            <a:ext cx="17007840" cy="960120"/>
          </a:xfrm>
          <a:prstGeom prst="roundRect">
            <a:avLst>
              <a:gd name="adj" fmla="val 12000"/>
            </a:avLst>
          </a:prstGeom>
          <a:solidFill>
            <a:srgbClr val="2738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500" b="1">
                <a:solidFill>
                  <a:srgbClr val="FFFFFF"/>
                </a:solidFill>
                <a:latin typeface="Calibri"/>
              </a:rPr>
              <a:t>Model Layer   —   Base LLM (open model or hosted API), treated as a black box</a:t>
            </a:r>
          </a:p>
        </p:txBody>
      </p:sp>
      <p:cxnSp>
        <p:nvCxnSpPr>
          <p:cNvPr id="16" name="Connector 15"/>
          <p:cNvCxnSpPr/>
          <p:nvPr/>
        </p:nvCxnSpPr>
        <p:spPr>
          <a:xfrm>
            <a:off x="8686800" y="3291840"/>
            <a:ext cx="0" cy="411480"/>
          </a:xfrm>
          <a:prstGeom prst="line">
            <a:avLst/>
          </a:prstGeom>
          <a:ln w="22225">
            <a:solidFill>
              <a:srgbClr val="55606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2847320" y="5029200"/>
            <a:ext cx="274320" cy="0"/>
          </a:xfrm>
          <a:prstGeom prst="line">
            <a:avLst/>
          </a:prstGeom>
          <a:ln w="22225">
            <a:solidFill>
              <a:srgbClr val="55606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00800" y="6400800"/>
            <a:ext cx="0" cy="411480"/>
          </a:xfrm>
          <a:prstGeom prst="line">
            <a:avLst/>
          </a:prstGeom>
          <a:ln w="22225">
            <a:solidFill>
              <a:srgbClr val="55606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603504"/>
            <a:ext cx="16642080" cy="1371600"/>
          </a:xfrm>
        </p:spPr>
        <p:txBody>
          <a:bodyPr wrap="square" anchor="ctr">
            <a:noAutofit/>
          </a:bodyPr>
          <a:lstStyle/>
          <a:p>
            <a:pPr algn="ctr"/>
            <a:r>
              <a:rPr sz="4200" b="1">
                <a:solidFill>
                  <a:srgbClr val="111111"/>
                </a:solidFill>
                <a:latin typeface="Times New Roman"/>
              </a:rPr>
              <a:t>Implementation Workflow</a:t>
            </a:r>
          </a:p>
        </p:txBody>
      </p:sp>
      <p:sp>
        <p:nvSpPr>
          <p:cNvPr id="3" name="Rounded Rectangle 2"/>
          <p:cNvSpPr/>
          <p:nvPr/>
        </p:nvSpPr>
        <p:spPr>
          <a:xfrm>
            <a:off x="640080" y="2971800"/>
            <a:ext cx="3840480" cy="2331720"/>
          </a:xfrm>
          <a:prstGeom prst="roundRect">
            <a:avLst>
              <a:gd name="adj" fmla="val 6000"/>
            </a:avLst>
          </a:prstGeom>
          <a:solidFill>
            <a:srgbClr val="F4F7FA"/>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4" name="Oval 3"/>
          <p:cNvSpPr/>
          <p:nvPr/>
        </p:nvSpPr>
        <p:spPr>
          <a:xfrm>
            <a:off x="822959" y="3172968"/>
            <a:ext cx="658368" cy="658368"/>
          </a:xfrm>
          <a:prstGeom prst="ellipse">
            <a:avLst/>
          </a:prstGeom>
          <a:solidFill>
            <a:srgbClr val="3461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1</a:t>
            </a:r>
          </a:p>
        </p:txBody>
      </p:sp>
      <p:sp>
        <p:nvSpPr>
          <p:cNvPr id="5" name="TextBox 4"/>
          <p:cNvSpPr txBox="1"/>
          <p:nvPr/>
        </p:nvSpPr>
        <p:spPr>
          <a:xfrm>
            <a:off x="804671" y="3977639"/>
            <a:ext cx="3511296" cy="1234439"/>
          </a:xfrm>
          <a:prstGeom prst="rect">
            <a:avLst/>
          </a:prstGeom>
          <a:noFill/>
        </p:spPr>
        <p:txBody>
          <a:bodyPr wrap="square" anchor="t">
            <a:spAutoFit/>
          </a:bodyPr>
          <a:lstStyle/>
          <a:p>
            <a:pPr algn="ctr">
              <a:lnSpc>
                <a:spcPct val="102000"/>
              </a:lnSpc>
            </a:pPr>
            <a:r>
              <a:rPr sz="1450">
                <a:solidFill>
                  <a:srgbClr val="1A1A1A"/>
                </a:solidFill>
                <a:latin typeface="Times New Roman"/>
              </a:rPr>
              <a:t>Capture the new turn from the agent</a:t>
            </a:r>
          </a:p>
        </p:txBody>
      </p:sp>
      <p:sp>
        <p:nvSpPr>
          <p:cNvPr id="6" name="Rounded Rectangle 5"/>
          <p:cNvSpPr/>
          <p:nvPr/>
        </p:nvSpPr>
        <p:spPr>
          <a:xfrm>
            <a:off x="4892040" y="2971800"/>
            <a:ext cx="3840480" cy="2331720"/>
          </a:xfrm>
          <a:prstGeom prst="roundRect">
            <a:avLst>
              <a:gd name="adj" fmla="val 6000"/>
            </a:avLst>
          </a:prstGeom>
          <a:solidFill>
            <a:srgbClr val="F4F7FA"/>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7" name="Oval 6"/>
          <p:cNvSpPr/>
          <p:nvPr/>
        </p:nvSpPr>
        <p:spPr>
          <a:xfrm>
            <a:off x="5074920" y="3172968"/>
            <a:ext cx="658368" cy="658368"/>
          </a:xfrm>
          <a:prstGeom prst="ellipse">
            <a:avLst/>
          </a:prstGeom>
          <a:solidFill>
            <a:srgbClr val="3461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2</a:t>
            </a:r>
          </a:p>
        </p:txBody>
      </p:sp>
      <p:sp>
        <p:nvSpPr>
          <p:cNvPr id="8" name="TextBox 7"/>
          <p:cNvSpPr txBox="1"/>
          <p:nvPr/>
        </p:nvSpPr>
        <p:spPr>
          <a:xfrm>
            <a:off x="5056631" y="3977639"/>
            <a:ext cx="3511296" cy="1234439"/>
          </a:xfrm>
          <a:prstGeom prst="rect">
            <a:avLst/>
          </a:prstGeom>
          <a:noFill/>
        </p:spPr>
        <p:txBody>
          <a:bodyPr wrap="square" anchor="t">
            <a:spAutoFit/>
          </a:bodyPr>
          <a:lstStyle/>
          <a:p>
            <a:pPr algn="ctr">
              <a:lnSpc>
                <a:spcPct val="102000"/>
              </a:lnSpc>
            </a:pPr>
            <a:r>
              <a:rPr sz="1450">
                <a:solidFill>
                  <a:srgbClr val="1A1A1A"/>
                </a:solidFill>
                <a:latin typeface="Times New Roman"/>
              </a:rPr>
              <a:t>Embed it and score importance via the Adaptive Memory Decision Engine</a:t>
            </a:r>
          </a:p>
        </p:txBody>
      </p:sp>
      <p:sp>
        <p:nvSpPr>
          <p:cNvPr id="9" name="Rounded Rectangle 8"/>
          <p:cNvSpPr/>
          <p:nvPr/>
        </p:nvSpPr>
        <p:spPr>
          <a:xfrm>
            <a:off x="9144000" y="2971800"/>
            <a:ext cx="3840480" cy="2331720"/>
          </a:xfrm>
          <a:prstGeom prst="roundRect">
            <a:avLst>
              <a:gd name="adj" fmla="val 6000"/>
            </a:avLst>
          </a:prstGeom>
          <a:solidFill>
            <a:srgbClr val="F4F7FA"/>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10" name="Oval 9"/>
          <p:cNvSpPr/>
          <p:nvPr/>
        </p:nvSpPr>
        <p:spPr>
          <a:xfrm>
            <a:off x="9326880" y="3172968"/>
            <a:ext cx="658368" cy="658368"/>
          </a:xfrm>
          <a:prstGeom prst="ellipse">
            <a:avLst/>
          </a:prstGeom>
          <a:solidFill>
            <a:srgbClr val="4E7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3</a:t>
            </a:r>
          </a:p>
        </p:txBody>
      </p:sp>
      <p:sp>
        <p:nvSpPr>
          <p:cNvPr id="11" name="TextBox 10"/>
          <p:cNvSpPr txBox="1"/>
          <p:nvPr/>
        </p:nvSpPr>
        <p:spPr>
          <a:xfrm>
            <a:off x="9308592" y="3977639"/>
            <a:ext cx="3511296" cy="1234439"/>
          </a:xfrm>
          <a:prstGeom prst="rect">
            <a:avLst/>
          </a:prstGeom>
          <a:noFill/>
        </p:spPr>
        <p:txBody>
          <a:bodyPr wrap="square" anchor="t">
            <a:spAutoFit/>
          </a:bodyPr>
          <a:lstStyle/>
          <a:p>
            <a:pPr algn="ctr">
              <a:lnSpc>
                <a:spcPct val="102000"/>
              </a:lnSpc>
            </a:pPr>
            <a:r>
              <a:rPr sz="1450">
                <a:solidFill>
                  <a:srgbClr val="1A1A1A"/>
                </a:solidFill>
                <a:latin typeface="Times New Roman"/>
              </a:rPr>
              <a:t>Route it: keep in full, summarize &amp; compress, or forget</a:t>
            </a:r>
          </a:p>
        </p:txBody>
      </p:sp>
      <p:sp>
        <p:nvSpPr>
          <p:cNvPr id="12" name="Rounded Rectangle 11"/>
          <p:cNvSpPr/>
          <p:nvPr/>
        </p:nvSpPr>
        <p:spPr>
          <a:xfrm>
            <a:off x="13395960" y="2971800"/>
            <a:ext cx="3840480" cy="2331720"/>
          </a:xfrm>
          <a:prstGeom prst="roundRect">
            <a:avLst>
              <a:gd name="adj" fmla="val 6000"/>
            </a:avLst>
          </a:prstGeom>
          <a:solidFill>
            <a:srgbClr val="F4F7FA"/>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13" name="Oval 12"/>
          <p:cNvSpPr/>
          <p:nvPr/>
        </p:nvSpPr>
        <p:spPr>
          <a:xfrm>
            <a:off x="13578840" y="3172968"/>
            <a:ext cx="658368" cy="658368"/>
          </a:xfrm>
          <a:prstGeom prst="ellipse">
            <a:avLst/>
          </a:prstGeom>
          <a:solidFill>
            <a:srgbClr val="4E7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4</a:t>
            </a:r>
          </a:p>
        </p:txBody>
      </p:sp>
      <p:sp>
        <p:nvSpPr>
          <p:cNvPr id="14" name="TextBox 13"/>
          <p:cNvSpPr txBox="1"/>
          <p:nvPr/>
        </p:nvSpPr>
        <p:spPr>
          <a:xfrm>
            <a:off x="13560552" y="3977639"/>
            <a:ext cx="3511296" cy="1234439"/>
          </a:xfrm>
          <a:prstGeom prst="rect">
            <a:avLst/>
          </a:prstGeom>
          <a:noFill/>
        </p:spPr>
        <p:txBody>
          <a:bodyPr wrap="square" anchor="t">
            <a:spAutoFit/>
          </a:bodyPr>
          <a:lstStyle/>
          <a:p>
            <a:pPr algn="ctr">
              <a:lnSpc>
                <a:spcPct val="102000"/>
              </a:lnSpc>
            </a:pPr>
            <a:r>
              <a:rPr sz="1450">
                <a:solidFill>
                  <a:srgbClr val="1A1A1A"/>
                </a:solidFill>
                <a:latin typeface="Times New Roman"/>
              </a:rPr>
              <a:t>Write it to the matching tier (short-term / working / long-term)</a:t>
            </a:r>
          </a:p>
        </p:txBody>
      </p:sp>
      <p:sp>
        <p:nvSpPr>
          <p:cNvPr id="15" name="Rounded Rectangle 14"/>
          <p:cNvSpPr/>
          <p:nvPr/>
        </p:nvSpPr>
        <p:spPr>
          <a:xfrm>
            <a:off x="13395960" y="6172200"/>
            <a:ext cx="3840480" cy="2331720"/>
          </a:xfrm>
          <a:prstGeom prst="roundRect">
            <a:avLst>
              <a:gd name="adj" fmla="val 6000"/>
            </a:avLst>
          </a:prstGeom>
          <a:solidFill>
            <a:srgbClr val="F4F7FA"/>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16" name="Oval 15"/>
          <p:cNvSpPr/>
          <p:nvPr/>
        </p:nvSpPr>
        <p:spPr>
          <a:xfrm>
            <a:off x="13578840" y="6373368"/>
            <a:ext cx="658368" cy="658368"/>
          </a:xfrm>
          <a:prstGeom prst="ellipse">
            <a:avLst/>
          </a:prstGeom>
          <a:solidFill>
            <a:srgbClr val="2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5</a:t>
            </a:r>
          </a:p>
        </p:txBody>
      </p:sp>
      <p:sp>
        <p:nvSpPr>
          <p:cNvPr id="17" name="TextBox 16"/>
          <p:cNvSpPr txBox="1"/>
          <p:nvPr/>
        </p:nvSpPr>
        <p:spPr>
          <a:xfrm>
            <a:off x="13560552" y="7178040"/>
            <a:ext cx="3511296" cy="1234439"/>
          </a:xfrm>
          <a:prstGeom prst="rect">
            <a:avLst/>
          </a:prstGeom>
          <a:noFill/>
        </p:spPr>
        <p:txBody>
          <a:bodyPr wrap="square" anchor="t">
            <a:spAutoFit/>
          </a:bodyPr>
          <a:lstStyle/>
          <a:p>
            <a:pPr algn="ctr">
              <a:lnSpc>
                <a:spcPct val="102000"/>
              </a:lnSpc>
            </a:pPr>
            <a:r>
              <a:rPr sz="1450">
                <a:solidFill>
                  <a:srgbClr val="1A1A1A"/>
                </a:solidFill>
                <a:latin typeface="Times New Roman"/>
              </a:rPr>
              <a:t>On a new query, embed the query</a:t>
            </a:r>
          </a:p>
        </p:txBody>
      </p:sp>
      <p:sp>
        <p:nvSpPr>
          <p:cNvPr id="18" name="Rounded Rectangle 17"/>
          <p:cNvSpPr/>
          <p:nvPr/>
        </p:nvSpPr>
        <p:spPr>
          <a:xfrm>
            <a:off x="9144000" y="6172200"/>
            <a:ext cx="3840480" cy="2331720"/>
          </a:xfrm>
          <a:prstGeom prst="roundRect">
            <a:avLst>
              <a:gd name="adj" fmla="val 6000"/>
            </a:avLst>
          </a:prstGeom>
          <a:solidFill>
            <a:srgbClr val="F4F7FA"/>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19" name="Oval 18"/>
          <p:cNvSpPr/>
          <p:nvPr/>
        </p:nvSpPr>
        <p:spPr>
          <a:xfrm>
            <a:off x="9326880" y="6373368"/>
            <a:ext cx="658368" cy="658368"/>
          </a:xfrm>
          <a:prstGeom prst="ellipse">
            <a:avLst/>
          </a:prstGeom>
          <a:solidFill>
            <a:srgbClr val="2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6</a:t>
            </a:r>
          </a:p>
        </p:txBody>
      </p:sp>
      <p:sp>
        <p:nvSpPr>
          <p:cNvPr id="20" name="TextBox 19"/>
          <p:cNvSpPr txBox="1"/>
          <p:nvPr/>
        </p:nvSpPr>
        <p:spPr>
          <a:xfrm>
            <a:off x="9308592" y="7178040"/>
            <a:ext cx="3511296" cy="1234439"/>
          </a:xfrm>
          <a:prstGeom prst="rect">
            <a:avLst/>
          </a:prstGeom>
          <a:noFill/>
        </p:spPr>
        <p:txBody>
          <a:bodyPr wrap="square" anchor="t">
            <a:spAutoFit/>
          </a:bodyPr>
          <a:lstStyle/>
          <a:p>
            <a:pPr algn="ctr">
              <a:lnSpc>
                <a:spcPct val="102000"/>
              </a:lnSpc>
            </a:pPr>
            <a:r>
              <a:rPr sz="1450">
                <a:solidFill>
                  <a:srgbClr val="1A1A1A"/>
                </a:solidFill>
                <a:latin typeface="Times New Roman"/>
              </a:rPr>
              <a:t>Retrieve the most relevant memories from the tiers</a:t>
            </a:r>
          </a:p>
        </p:txBody>
      </p:sp>
      <p:sp>
        <p:nvSpPr>
          <p:cNvPr id="21" name="Rounded Rectangle 20"/>
          <p:cNvSpPr/>
          <p:nvPr/>
        </p:nvSpPr>
        <p:spPr>
          <a:xfrm>
            <a:off x="4892040" y="6172200"/>
            <a:ext cx="3840480" cy="2331720"/>
          </a:xfrm>
          <a:prstGeom prst="roundRect">
            <a:avLst>
              <a:gd name="adj" fmla="val 6000"/>
            </a:avLst>
          </a:prstGeom>
          <a:solidFill>
            <a:srgbClr val="F4F7FA"/>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22" name="Oval 21"/>
          <p:cNvSpPr/>
          <p:nvPr/>
        </p:nvSpPr>
        <p:spPr>
          <a:xfrm>
            <a:off x="5074920" y="6373368"/>
            <a:ext cx="658368" cy="658368"/>
          </a:xfrm>
          <a:prstGeom prst="ellipse">
            <a:avLst/>
          </a:prstGeom>
          <a:solidFill>
            <a:srgbClr val="273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7</a:t>
            </a:r>
          </a:p>
        </p:txBody>
      </p:sp>
      <p:sp>
        <p:nvSpPr>
          <p:cNvPr id="23" name="TextBox 22"/>
          <p:cNvSpPr txBox="1"/>
          <p:nvPr/>
        </p:nvSpPr>
        <p:spPr>
          <a:xfrm>
            <a:off x="5056631" y="7178040"/>
            <a:ext cx="3511296" cy="1234439"/>
          </a:xfrm>
          <a:prstGeom prst="rect">
            <a:avLst/>
          </a:prstGeom>
          <a:noFill/>
        </p:spPr>
        <p:txBody>
          <a:bodyPr wrap="square" anchor="t">
            <a:spAutoFit/>
          </a:bodyPr>
          <a:lstStyle/>
          <a:p>
            <a:pPr algn="ctr">
              <a:lnSpc>
                <a:spcPct val="102000"/>
              </a:lnSpc>
            </a:pPr>
            <a:r>
              <a:rPr sz="1450">
                <a:solidFill>
                  <a:srgbClr val="1A1A1A"/>
                </a:solidFill>
                <a:latin typeface="Times New Roman"/>
              </a:rPr>
              <a:t>Assemble a context that fits the token budget</a:t>
            </a:r>
          </a:p>
        </p:txBody>
      </p:sp>
      <p:sp>
        <p:nvSpPr>
          <p:cNvPr id="24" name="Rounded Rectangle 23"/>
          <p:cNvSpPr/>
          <p:nvPr/>
        </p:nvSpPr>
        <p:spPr>
          <a:xfrm>
            <a:off x="640080" y="6172200"/>
            <a:ext cx="3840480" cy="2331720"/>
          </a:xfrm>
          <a:prstGeom prst="roundRect">
            <a:avLst>
              <a:gd name="adj" fmla="val 6000"/>
            </a:avLst>
          </a:prstGeom>
          <a:solidFill>
            <a:srgbClr val="F4F7FA"/>
          </a:solidFill>
          <a:ln w="15875">
            <a:solidFill>
              <a:srgbClr val="C9D3D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25" name="Oval 24"/>
          <p:cNvSpPr/>
          <p:nvPr/>
        </p:nvSpPr>
        <p:spPr>
          <a:xfrm>
            <a:off x="822959" y="6373368"/>
            <a:ext cx="658368" cy="658368"/>
          </a:xfrm>
          <a:prstGeom prst="ellipse">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Times New Roman"/>
              </a:rPr>
              <a:t>8</a:t>
            </a:r>
          </a:p>
        </p:txBody>
      </p:sp>
      <p:sp>
        <p:nvSpPr>
          <p:cNvPr id="26" name="TextBox 25"/>
          <p:cNvSpPr txBox="1"/>
          <p:nvPr/>
        </p:nvSpPr>
        <p:spPr>
          <a:xfrm>
            <a:off x="804671" y="7178040"/>
            <a:ext cx="3511296" cy="1234439"/>
          </a:xfrm>
          <a:prstGeom prst="rect">
            <a:avLst/>
          </a:prstGeom>
          <a:noFill/>
        </p:spPr>
        <p:txBody>
          <a:bodyPr wrap="square" anchor="t">
            <a:spAutoFit/>
          </a:bodyPr>
          <a:lstStyle/>
          <a:p>
            <a:pPr algn="ctr">
              <a:lnSpc>
                <a:spcPct val="102000"/>
              </a:lnSpc>
            </a:pPr>
            <a:r>
              <a:rPr sz="1450">
                <a:solidFill>
                  <a:srgbClr val="1A1A1A"/>
                </a:solidFill>
                <a:latin typeface="Times New Roman"/>
              </a:rPr>
              <a:t>Call the LLM, return the response, and update memory</a:t>
            </a:r>
          </a:p>
        </p:txBody>
      </p:sp>
      <p:cxnSp>
        <p:nvCxnSpPr>
          <p:cNvPr id="27" name="Connector 26"/>
          <p:cNvCxnSpPr/>
          <p:nvPr/>
        </p:nvCxnSpPr>
        <p:spPr>
          <a:xfrm>
            <a:off x="4480560" y="4137660"/>
            <a:ext cx="411480" cy="0"/>
          </a:xfrm>
          <a:prstGeom prst="line">
            <a:avLst/>
          </a:prstGeom>
          <a:ln w="22225">
            <a:solidFill>
              <a:srgbClr val="5560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732520" y="4137660"/>
            <a:ext cx="411480" cy="0"/>
          </a:xfrm>
          <a:prstGeom prst="line">
            <a:avLst/>
          </a:prstGeom>
          <a:ln w="22225">
            <a:solidFill>
              <a:srgbClr val="5560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2984480" y="4137660"/>
            <a:ext cx="411480" cy="0"/>
          </a:xfrm>
          <a:prstGeom prst="line">
            <a:avLst/>
          </a:prstGeom>
          <a:ln w="22225">
            <a:solidFill>
              <a:srgbClr val="5560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5316200" y="5303520"/>
            <a:ext cx="0" cy="868680"/>
          </a:xfrm>
          <a:prstGeom prst="line">
            <a:avLst/>
          </a:prstGeom>
          <a:ln w="25400">
            <a:solidFill>
              <a:srgbClr val="C1272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2984480" y="7338060"/>
            <a:ext cx="411480" cy="0"/>
          </a:xfrm>
          <a:prstGeom prst="line">
            <a:avLst/>
          </a:prstGeom>
          <a:ln w="22225">
            <a:solidFill>
              <a:srgbClr val="5560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8732520" y="7338060"/>
            <a:ext cx="411480" cy="0"/>
          </a:xfrm>
          <a:prstGeom prst="line">
            <a:avLst/>
          </a:prstGeom>
          <a:ln w="22225">
            <a:solidFill>
              <a:srgbClr val="5560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4480560" y="7338060"/>
            <a:ext cx="411480" cy="0"/>
          </a:xfrm>
          <a:prstGeom prst="line">
            <a:avLst/>
          </a:prstGeom>
          <a:ln w="22225">
            <a:solidFill>
              <a:srgbClr val="55606B"/>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603504"/>
            <a:ext cx="16642080" cy="1371600"/>
          </a:xfrm>
        </p:spPr>
        <p:txBody>
          <a:bodyPr wrap="square" anchor="ctr">
            <a:noAutofit/>
          </a:bodyPr>
          <a:lstStyle/>
          <a:p>
            <a:pPr algn="ctr"/>
            <a:r>
              <a:rPr sz="4200" b="1">
                <a:solidFill>
                  <a:srgbClr val="111111"/>
                </a:solidFill>
                <a:latin typeface="Times New Roman"/>
              </a:rPr>
              <a:t>Tools &amp; Technology</a:t>
            </a:r>
          </a:p>
        </p:txBody>
      </p:sp>
      <p:sp>
        <p:nvSpPr>
          <p:cNvPr id="3" name="TextBox 2"/>
          <p:cNvSpPr txBox="1"/>
          <p:nvPr/>
        </p:nvSpPr>
        <p:spPr>
          <a:xfrm>
            <a:off x="914400" y="2286000"/>
            <a:ext cx="16459200" cy="7132320"/>
          </a:xfrm>
          <a:prstGeom prst="rect">
            <a:avLst/>
          </a:prstGeom>
          <a:noFill/>
        </p:spPr>
        <p:txBody>
          <a:bodyPr wrap="square">
            <a:spAutoFit/>
          </a:bodyPr>
          <a:lstStyle/>
          <a:p>
            <a:pPr algn="l">
              <a:lnSpc>
                <a:spcPct val="103000"/>
              </a:lnSpc>
              <a:spcAft>
                <a:spcPts val="1400"/>
              </a:spcAft>
            </a:pPr>
            <a:r>
              <a:rPr sz="2300" b="0">
                <a:solidFill>
                  <a:srgbClr val="C1272D"/>
                </a:solidFill>
                <a:latin typeface="Times New Roman"/>
              </a:rPr>
              <a:t>•  </a:t>
            </a:r>
            <a:r>
              <a:rPr sz="2300" b="1">
                <a:solidFill>
                  <a:srgbClr val="1A1A1A"/>
                </a:solidFill>
                <a:latin typeface="Times New Roman"/>
              </a:rPr>
              <a:t>Core &amp; ML: </a:t>
            </a:r>
            <a:r>
              <a:rPr sz="2300" b="0">
                <a:solidFill>
                  <a:srgbClr val="1A1A1A"/>
                </a:solidFill>
                <a:latin typeface="Times New Roman"/>
              </a:rPr>
              <a:t>Python, PyTorch, NumPy, Pandas</a:t>
            </a:r>
          </a:p>
          <a:p>
            <a:pPr algn="l">
              <a:lnSpc>
                <a:spcPct val="103000"/>
              </a:lnSpc>
              <a:spcAft>
                <a:spcPts val="1400"/>
              </a:spcAft>
            </a:pPr>
            <a:r>
              <a:rPr sz="2300" b="0">
                <a:solidFill>
                  <a:srgbClr val="C1272D"/>
                </a:solidFill>
                <a:latin typeface="Times New Roman"/>
              </a:rPr>
              <a:t>•  </a:t>
            </a:r>
            <a:r>
              <a:rPr sz="2300" b="1">
                <a:solidFill>
                  <a:srgbClr val="1A1A1A"/>
                </a:solidFill>
                <a:latin typeface="Times New Roman"/>
              </a:rPr>
              <a:t>Language models: </a:t>
            </a:r>
            <a:r>
              <a:rPr sz="2300" b="0">
                <a:solidFill>
                  <a:srgbClr val="1A1A1A"/>
                </a:solidFill>
                <a:latin typeface="Times New Roman"/>
              </a:rPr>
              <a:t>open models (Llama 3, Mistral) via Hugging Face Transformers; a hosted API (OpenAI / Anthropic) for comparison</a:t>
            </a:r>
          </a:p>
          <a:p>
            <a:pPr algn="l">
              <a:lnSpc>
                <a:spcPct val="103000"/>
              </a:lnSpc>
              <a:spcAft>
                <a:spcPts val="1400"/>
              </a:spcAft>
            </a:pPr>
            <a:r>
              <a:rPr sz="2300" b="0">
                <a:solidFill>
                  <a:srgbClr val="C1272D"/>
                </a:solidFill>
                <a:latin typeface="Times New Roman"/>
              </a:rPr>
              <a:t>•  </a:t>
            </a:r>
            <a:r>
              <a:rPr sz="2300" b="1">
                <a:solidFill>
                  <a:srgbClr val="1A1A1A"/>
                </a:solidFill>
                <a:latin typeface="Times New Roman"/>
              </a:rPr>
              <a:t>Agent scaffolding: </a:t>
            </a:r>
            <a:r>
              <a:rPr sz="2300" b="0">
                <a:solidFill>
                  <a:srgbClr val="1A1A1A"/>
                </a:solidFill>
                <a:latin typeface="Times New Roman"/>
              </a:rPr>
              <a:t>LangChain / LlamaIndex as the baseline setup we build on and improve</a:t>
            </a:r>
          </a:p>
          <a:p>
            <a:pPr algn="l">
              <a:lnSpc>
                <a:spcPct val="103000"/>
              </a:lnSpc>
              <a:spcAft>
                <a:spcPts val="1400"/>
              </a:spcAft>
            </a:pPr>
            <a:r>
              <a:rPr sz="2300" b="0">
                <a:solidFill>
                  <a:srgbClr val="C1272D"/>
                </a:solidFill>
                <a:latin typeface="Times New Roman"/>
              </a:rPr>
              <a:t>•  </a:t>
            </a:r>
            <a:r>
              <a:rPr sz="2300" b="1">
                <a:solidFill>
                  <a:srgbClr val="1A1A1A"/>
                </a:solidFill>
                <a:latin typeface="Times New Roman"/>
              </a:rPr>
              <a:t>Embeddings &amp; storage: </a:t>
            </a:r>
            <a:r>
              <a:rPr sz="2300" b="0">
                <a:solidFill>
                  <a:srgbClr val="1A1A1A"/>
                </a:solidFill>
                <a:latin typeface="Times New Roman"/>
              </a:rPr>
              <a:t>sentence-transformers for embeddings; FAISS or Chroma as the long-term vector store</a:t>
            </a:r>
          </a:p>
          <a:p>
            <a:pPr algn="l">
              <a:lnSpc>
                <a:spcPct val="103000"/>
              </a:lnSpc>
              <a:spcAft>
                <a:spcPts val="1400"/>
              </a:spcAft>
            </a:pPr>
            <a:r>
              <a:rPr sz="2300" b="0">
                <a:solidFill>
                  <a:srgbClr val="C1272D"/>
                </a:solidFill>
                <a:latin typeface="Times New Roman"/>
              </a:rPr>
              <a:t>•  </a:t>
            </a:r>
            <a:r>
              <a:rPr sz="2300" b="1">
                <a:solidFill>
                  <a:srgbClr val="1A1A1A"/>
                </a:solidFill>
                <a:latin typeface="Times New Roman"/>
              </a:rPr>
              <a:t>Compression: </a:t>
            </a:r>
            <a:r>
              <a:rPr sz="2300" b="0">
                <a:solidFill>
                  <a:srgbClr val="1A1A1A"/>
                </a:solidFill>
                <a:latin typeface="Times New Roman"/>
              </a:rPr>
              <a:t>base-LLM summarization plus prompt-compression baselines (LLMLingua-style); tokenizer-level budgeting (tiktoken / HF tokenizers)</a:t>
            </a:r>
          </a:p>
          <a:p>
            <a:pPr algn="l">
              <a:lnSpc>
                <a:spcPct val="103000"/>
              </a:lnSpc>
              <a:spcAft>
                <a:spcPts val="1400"/>
              </a:spcAft>
            </a:pPr>
            <a:r>
              <a:rPr sz="2300" b="0">
                <a:solidFill>
                  <a:srgbClr val="C1272D"/>
                </a:solidFill>
                <a:latin typeface="Times New Roman"/>
              </a:rPr>
              <a:t>•  </a:t>
            </a:r>
            <a:r>
              <a:rPr sz="2300" b="1">
                <a:solidFill>
                  <a:srgbClr val="1A1A1A"/>
                </a:solidFill>
                <a:latin typeface="Times New Roman"/>
              </a:rPr>
              <a:t>Workflow &amp; analysis: </a:t>
            </a:r>
            <a:r>
              <a:rPr sz="2300" b="0">
                <a:solidFill>
                  <a:srgbClr val="1A1A1A"/>
                </a:solidFill>
                <a:latin typeface="Times New Roman"/>
              </a:rPr>
              <a:t>Google Colab / university GPU, Git and GitHub, Matplotlib for results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603504"/>
            <a:ext cx="16642080" cy="1371600"/>
          </a:xfrm>
        </p:spPr>
        <p:txBody>
          <a:bodyPr wrap="square" anchor="ctr">
            <a:noAutofit/>
          </a:bodyPr>
          <a:lstStyle/>
          <a:p>
            <a:pPr algn="ctr"/>
            <a:r>
              <a:rPr sz="4200" b="1">
                <a:solidFill>
                  <a:srgbClr val="111111"/>
                </a:solidFill>
                <a:latin typeface="Times New Roman"/>
              </a:rPr>
              <a:t>Feasibility of Implementation</a:t>
            </a:r>
          </a:p>
        </p:txBody>
      </p:sp>
      <p:sp>
        <p:nvSpPr>
          <p:cNvPr id="3" name="TextBox 2"/>
          <p:cNvSpPr txBox="1"/>
          <p:nvPr/>
        </p:nvSpPr>
        <p:spPr>
          <a:xfrm>
            <a:off x="914400" y="2286000"/>
            <a:ext cx="16459200" cy="4100097"/>
          </a:xfrm>
          <a:prstGeom prst="rect">
            <a:avLst/>
          </a:prstGeom>
          <a:noFill/>
        </p:spPr>
        <p:txBody>
          <a:bodyPr wrap="square">
            <a:spAutoFit/>
          </a:bodyPr>
          <a:lstStyle/>
          <a:p>
            <a:pPr algn="l">
              <a:lnSpc>
                <a:spcPct val="102000"/>
              </a:lnSpc>
              <a:spcAft>
                <a:spcPts val="800"/>
              </a:spcAft>
            </a:pPr>
            <a:r>
              <a:rPr sz="2200" b="0" dirty="0">
                <a:solidFill>
                  <a:srgbClr val="C1272D"/>
                </a:solidFill>
                <a:latin typeface="Times New Roman"/>
              </a:rPr>
              <a:t>•  </a:t>
            </a:r>
            <a:r>
              <a:rPr sz="2200" b="1" dirty="0">
                <a:solidFill>
                  <a:srgbClr val="1A1A1A"/>
                </a:solidFill>
                <a:latin typeface="Times New Roman"/>
              </a:rPr>
              <a:t>Technical: </a:t>
            </a:r>
            <a:r>
              <a:rPr sz="2200" b="0" dirty="0">
                <a:solidFill>
                  <a:srgbClr val="1A1A1A"/>
                </a:solidFill>
                <a:latin typeface="Times New Roman"/>
              </a:rPr>
              <a:t>builds on mature parts — embeddings, vector search, and LLM summarization all exist. The new work is the control policy, not a new model, and it runs on a single GPU or </a:t>
            </a:r>
            <a:r>
              <a:rPr sz="2200" b="0" dirty="0" err="1">
                <a:solidFill>
                  <a:srgbClr val="1A1A1A"/>
                </a:solidFill>
                <a:latin typeface="Times New Roman"/>
              </a:rPr>
              <a:t>Colab</a:t>
            </a:r>
            <a:r>
              <a:rPr sz="2200" b="0" dirty="0">
                <a:solidFill>
                  <a:srgbClr val="1A1A1A"/>
                </a:solidFill>
                <a:latin typeface="Times New Roman"/>
              </a:rPr>
              <a:t>.</a:t>
            </a:r>
          </a:p>
          <a:p>
            <a:pPr algn="l">
              <a:lnSpc>
                <a:spcPct val="102000"/>
              </a:lnSpc>
              <a:spcAft>
                <a:spcPts val="800"/>
              </a:spcAft>
            </a:pPr>
            <a:r>
              <a:rPr sz="2200" b="0" dirty="0">
                <a:solidFill>
                  <a:srgbClr val="C1272D"/>
                </a:solidFill>
                <a:latin typeface="Times New Roman"/>
              </a:rPr>
              <a:t>•  </a:t>
            </a:r>
            <a:r>
              <a:rPr sz="2200" b="1" dirty="0">
                <a:solidFill>
                  <a:srgbClr val="1A1A1A"/>
                </a:solidFill>
                <a:latin typeface="Times New Roman"/>
              </a:rPr>
              <a:t>Data: </a:t>
            </a:r>
            <a:r>
              <a:rPr sz="2200" b="0" dirty="0">
                <a:solidFill>
                  <a:srgbClr val="1A1A1A"/>
                </a:solidFill>
                <a:latin typeface="Times New Roman"/>
              </a:rPr>
              <a:t>public long-conversation benchmarks (</a:t>
            </a:r>
            <a:r>
              <a:rPr sz="2200" b="0" dirty="0" err="1">
                <a:solidFill>
                  <a:srgbClr val="1A1A1A"/>
                </a:solidFill>
                <a:latin typeface="Times New Roman"/>
              </a:rPr>
              <a:t>LoCoMo</a:t>
            </a:r>
            <a:r>
              <a:rPr sz="2200" b="0" dirty="0">
                <a:solidFill>
                  <a:srgbClr val="1A1A1A"/>
                </a:solidFill>
                <a:latin typeface="Times New Roman"/>
              </a:rPr>
              <a:t>, Multi-Session Chat, </a:t>
            </a:r>
            <a:r>
              <a:rPr sz="2200" b="0" dirty="0" err="1">
                <a:solidFill>
                  <a:srgbClr val="1A1A1A"/>
                </a:solidFill>
                <a:latin typeface="Times New Roman"/>
              </a:rPr>
              <a:t>LongBench</a:t>
            </a:r>
            <a:r>
              <a:rPr sz="2200" b="0" dirty="0">
                <a:solidFill>
                  <a:srgbClr val="1A1A1A"/>
                </a:solidFill>
                <a:latin typeface="Times New Roman"/>
              </a:rPr>
              <a:t>) are available, so there is no costly data collection.</a:t>
            </a:r>
          </a:p>
          <a:p>
            <a:pPr algn="l">
              <a:lnSpc>
                <a:spcPct val="102000"/>
              </a:lnSpc>
              <a:spcAft>
                <a:spcPts val="800"/>
              </a:spcAft>
            </a:pPr>
            <a:r>
              <a:rPr sz="2200" b="0" dirty="0">
                <a:solidFill>
                  <a:srgbClr val="C1272D"/>
                </a:solidFill>
                <a:latin typeface="Times New Roman"/>
              </a:rPr>
              <a:t>•  </a:t>
            </a:r>
            <a:r>
              <a:rPr sz="2200" b="1" dirty="0">
                <a:solidFill>
                  <a:srgbClr val="1A1A1A"/>
                </a:solidFill>
                <a:latin typeface="Times New Roman"/>
              </a:rPr>
              <a:t>Cost: </a:t>
            </a:r>
            <a:r>
              <a:rPr sz="2200" b="0" dirty="0">
                <a:solidFill>
                  <a:srgbClr val="1A1A1A"/>
                </a:solidFill>
                <a:latin typeface="Times New Roman"/>
              </a:rPr>
              <a:t>mostly open-source tools; the only real expense is limited API calls, which fits a student budget.</a:t>
            </a:r>
          </a:p>
          <a:p>
            <a:pPr algn="l">
              <a:lnSpc>
                <a:spcPct val="100000"/>
              </a:lnSpc>
              <a:spcBef>
                <a:spcPts val="800"/>
              </a:spcBef>
              <a:spcAft>
                <a:spcPts val="400"/>
              </a:spcAft>
            </a:pPr>
            <a:r>
              <a:rPr sz="2200" b="1" dirty="0">
                <a:solidFill>
                  <a:srgbClr val="1A1A1A"/>
                </a:solidFill>
                <a:latin typeface="Times New Roman"/>
              </a:rPr>
              <a:t>Key constraints and mitigations</a:t>
            </a:r>
          </a:p>
          <a:p>
            <a:pPr algn="l">
              <a:lnSpc>
                <a:spcPct val="100000"/>
              </a:lnSpc>
              <a:spcAft>
                <a:spcPts val="300"/>
              </a:spcAft>
            </a:pPr>
            <a:r>
              <a:rPr sz="2000" b="0" dirty="0">
                <a:solidFill>
                  <a:srgbClr val="C1272D"/>
                </a:solidFill>
                <a:latin typeface="Times New Roman"/>
              </a:rPr>
              <a:t>•  </a:t>
            </a:r>
            <a:r>
              <a:rPr sz="2000" b="1" dirty="0">
                <a:solidFill>
                  <a:srgbClr val="1A1A1A"/>
                </a:solidFill>
                <a:latin typeface="Times New Roman"/>
              </a:rPr>
              <a:t>Limited compute → </a:t>
            </a:r>
            <a:r>
              <a:rPr sz="2000" b="0" dirty="0">
                <a:solidFill>
                  <a:srgbClr val="1A1A1A"/>
                </a:solidFill>
                <a:latin typeface="Times New Roman"/>
              </a:rPr>
              <a:t>smaller open models locally, large model via API</a:t>
            </a:r>
          </a:p>
          <a:p>
            <a:pPr algn="l">
              <a:lnSpc>
                <a:spcPct val="100000"/>
              </a:lnSpc>
              <a:spcAft>
                <a:spcPts val="300"/>
              </a:spcAft>
            </a:pPr>
            <a:r>
              <a:rPr sz="2000" b="0" dirty="0">
                <a:solidFill>
                  <a:srgbClr val="C1272D"/>
                </a:solidFill>
                <a:latin typeface="Times New Roman"/>
              </a:rPr>
              <a:t>•  </a:t>
            </a:r>
            <a:r>
              <a:rPr sz="2000" b="1" dirty="0">
                <a:solidFill>
                  <a:srgbClr val="1A1A1A"/>
                </a:solidFill>
                <a:latin typeface="Times New Roman"/>
              </a:rPr>
              <a:t>Over-forgetting loses detail → </a:t>
            </a:r>
            <a:r>
              <a:rPr sz="2000" b="0" dirty="0">
                <a:solidFill>
                  <a:srgbClr val="1A1A1A"/>
                </a:solidFill>
                <a:latin typeface="Times New Roman"/>
              </a:rPr>
              <a:t>the decision engine plus a retrieval fallback; tune the token budget</a:t>
            </a:r>
          </a:p>
          <a:p>
            <a:pPr algn="l">
              <a:lnSpc>
                <a:spcPct val="100000"/>
              </a:lnSpc>
              <a:spcAft>
                <a:spcPts val="300"/>
              </a:spcAft>
            </a:pPr>
            <a:r>
              <a:rPr sz="2000" b="0" dirty="0">
                <a:solidFill>
                  <a:srgbClr val="C1272D"/>
                </a:solidFill>
                <a:latin typeface="Times New Roman"/>
              </a:rPr>
              <a:t>•  </a:t>
            </a:r>
            <a:r>
              <a:rPr sz="2000" b="1" dirty="0">
                <a:solidFill>
                  <a:srgbClr val="1A1A1A"/>
                </a:solidFill>
                <a:latin typeface="Times New Roman"/>
              </a:rPr>
              <a:t>Measuring recall is hard → </a:t>
            </a:r>
            <a:r>
              <a:rPr sz="2000" b="0" dirty="0">
                <a:solidFill>
                  <a:srgbClr val="1A1A1A"/>
                </a:solidFill>
                <a:latin typeface="Times New Roman"/>
              </a:rPr>
              <a:t>probe questions on standard long-context benchmarks</a:t>
            </a:r>
          </a:p>
          <a:p>
            <a:pPr algn="l">
              <a:lnSpc>
                <a:spcPct val="100000"/>
              </a:lnSpc>
              <a:spcAft>
                <a:spcPts val="300"/>
              </a:spcAft>
            </a:pPr>
            <a:r>
              <a:rPr sz="2000" b="0" dirty="0">
                <a:solidFill>
                  <a:srgbClr val="C1272D"/>
                </a:solidFill>
                <a:latin typeface="Times New Roman"/>
              </a:rPr>
              <a:t>•  </a:t>
            </a:r>
            <a:r>
              <a:rPr sz="2000" b="1" dirty="0">
                <a:solidFill>
                  <a:srgbClr val="1A1A1A"/>
                </a:solidFill>
                <a:latin typeface="Times New Roman"/>
              </a:rPr>
              <a:t>Large system, limited time → </a:t>
            </a:r>
            <a:r>
              <a:rPr sz="2000" b="0" dirty="0">
                <a:solidFill>
                  <a:srgbClr val="1A1A1A"/>
                </a:solidFill>
                <a:latin typeface="Times New Roman"/>
              </a:rPr>
              <a:t>staged phases (compression → hierarchy → retrieval), each </a:t>
            </a:r>
            <a:r>
              <a:rPr sz="2000" b="0" dirty="0" err="1">
                <a:solidFill>
                  <a:srgbClr val="1A1A1A"/>
                </a:solidFill>
                <a:latin typeface="Times New Roman"/>
              </a:rPr>
              <a:t>demo</a:t>
            </a:r>
            <a:r>
              <a:rPr lang="en-US" sz="2000" b="0" dirty="0" err="1">
                <a:solidFill>
                  <a:srgbClr val="1A1A1A"/>
                </a:solidFill>
                <a:latin typeface="Times New Roman"/>
              </a:rPr>
              <a:t>r</a:t>
            </a:r>
            <a:r>
              <a:rPr sz="2000" b="0" dirty="0" err="1">
                <a:solidFill>
                  <a:srgbClr val="1A1A1A"/>
                </a:solidFill>
                <a:latin typeface="Times New Roman"/>
              </a:rPr>
              <a:t>able</a:t>
            </a:r>
            <a:endParaRPr sz="2000" b="0" dirty="0">
              <a:solidFill>
                <a:srgbClr val="1A1A1A"/>
              </a:solidFill>
              <a:latin typeface="Times New Roman"/>
            </a:endParaRPr>
          </a:p>
          <a:p>
            <a:pPr algn="l">
              <a:lnSpc>
                <a:spcPct val="100000"/>
              </a:lnSpc>
              <a:spcBef>
                <a:spcPts val="800"/>
              </a:spcBef>
              <a:spcAft>
                <a:spcPts val="800"/>
              </a:spcAft>
            </a:pPr>
            <a:r>
              <a:rPr sz="2200" b="1" dirty="0">
                <a:solidFill>
                  <a:srgbClr val="C1272D"/>
                </a:solidFill>
                <a:latin typeface="Times New Roman"/>
              </a:rPr>
              <a:t>Verdict:  </a:t>
            </a:r>
            <a:r>
              <a:rPr sz="2200" b="1" dirty="0">
                <a:solidFill>
                  <a:srgbClr val="1A1A1A"/>
                </a:solidFill>
                <a:latin typeface="Times New Roman"/>
              </a:rPr>
              <a:t>feasible within one semester as a staged research prototype.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457200" y="8065008"/>
            <a:ext cx="17190720" cy="6949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6675120"/>
            <a:ext cx="17190720" cy="6949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5285232"/>
            <a:ext cx="17190720" cy="6949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3895344"/>
            <a:ext cx="17190720" cy="6949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bject 3"/>
          <p:cNvSpPr txBox="1">
            <a:spLocks noGrp="1"/>
          </p:cNvSpPr>
          <p:nvPr>
            <p:ph type="title"/>
          </p:nvPr>
        </p:nvSpPr>
        <p:spPr>
          <a:xfrm>
            <a:off x="822960" y="603504"/>
            <a:ext cx="16642080" cy="1371600"/>
          </a:xfrm>
          <a:prstGeom prst="rect">
            <a:avLst/>
          </a:prstGeom>
        </p:spPr>
        <p:txBody>
          <a:bodyPr vert="horz" wrap="square" lIns="0" tIns="12700" rIns="0" bIns="0" rtlCol="0" anchor="ctr">
            <a:noAutofit/>
          </a:bodyPr>
          <a:lstStyle/>
          <a:p>
            <a:pPr marL="12700" algn="ctr">
              <a:lnSpc>
                <a:spcPct val="100000"/>
              </a:lnSpc>
              <a:spcBef>
                <a:spcPts val="100"/>
              </a:spcBef>
              <a:tabLst>
                <a:tab pos="2247265" algn="l"/>
              </a:tabLst>
            </a:pPr>
            <a:r>
              <a:rPr sz="4200" b="1">
                <a:solidFill>
                  <a:srgbClr val="111111"/>
                </a:solidFill>
                <a:latin typeface="Times New Roman"/>
              </a:rPr>
              <a:t>Gantt Chart</a:t>
            </a:r>
          </a:p>
        </p:txBody>
      </p:sp>
      <p:sp>
        <p:nvSpPr>
          <p:cNvPr id="4" name="Rounded Rectangle 3"/>
          <p:cNvSpPr/>
          <p:nvPr/>
        </p:nvSpPr>
        <p:spPr>
          <a:xfrm>
            <a:off x="457200" y="2514600"/>
            <a:ext cx="4846320" cy="502920"/>
          </a:xfrm>
          <a:prstGeom prst="roundRect">
            <a:avLst>
              <a:gd name="adj" fmla="val 6000"/>
            </a:avLst>
          </a:prstGeom>
          <a:solidFill>
            <a:srgbClr val="2738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500" b="1">
                <a:solidFill>
                  <a:srgbClr val="FFFFFF"/>
                </a:solidFill>
                <a:latin typeface="Times New Roman"/>
              </a:rPr>
              <a:t>Task</a:t>
            </a:r>
          </a:p>
        </p:txBody>
      </p:sp>
      <p:sp>
        <p:nvSpPr>
          <p:cNvPr id="5" name="Rounded Rectangle 4"/>
          <p:cNvSpPr/>
          <p:nvPr/>
        </p:nvSpPr>
        <p:spPr>
          <a:xfrm>
            <a:off x="5431536" y="2514600"/>
            <a:ext cx="1969008" cy="502920"/>
          </a:xfrm>
          <a:prstGeom prst="roundRect">
            <a:avLst>
              <a:gd name="adj" fmla="val 6000"/>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400" b="1">
                <a:solidFill>
                  <a:srgbClr val="FFFFFF"/>
                </a:solidFill>
                <a:latin typeface="Calibri"/>
              </a:rPr>
              <a:t>Jul '26</a:t>
            </a:r>
          </a:p>
        </p:txBody>
      </p:sp>
      <p:cxnSp>
        <p:nvCxnSpPr>
          <p:cNvPr id="6" name="Connector 5"/>
          <p:cNvCxnSpPr/>
          <p:nvPr/>
        </p:nvCxnSpPr>
        <p:spPr>
          <a:xfrm>
            <a:off x="5394960" y="3063240"/>
            <a:ext cx="0" cy="5742432"/>
          </a:xfrm>
          <a:prstGeom prst="line">
            <a:avLst/>
          </a:prstGeom>
          <a:ln w="12700">
            <a:solidFill>
              <a:srgbClr val="E1E7EE"/>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473695" y="2514600"/>
            <a:ext cx="1969008" cy="502920"/>
          </a:xfrm>
          <a:prstGeom prst="roundRect">
            <a:avLst>
              <a:gd name="adj" fmla="val 6000"/>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400" b="1">
                <a:solidFill>
                  <a:srgbClr val="FFFFFF"/>
                </a:solidFill>
                <a:latin typeface="Calibri"/>
              </a:rPr>
              <a:t>Aug '26</a:t>
            </a:r>
          </a:p>
        </p:txBody>
      </p:sp>
      <p:cxnSp>
        <p:nvCxnSpPr>
          <p:cNvPr id="8" name="Connector 7"/>
          <p:cNvCxnSpPr/>
          <p:nvPr/>
        </p:nvCxnSpPr>
        <p:spPr>
          <a:xfrm>
            <a:off x="7437120" y="3063240"/>
            <a:ext cx="0" cy="5742432"/>
          </a:xfrm>
          <a:prstGeom prst="line">
            <a:avLst/>
          </a:prstGeom>
          <a:ln w="12700">
            <a:solidFill>
              <a:srgbClr val="E1E7E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515856" y="2514600"/>
            <a:ext cx="1969008" cy="502920"/>
          </a:xfrm>
          <a:prstGeom prst="roundRect">
            <a:avLst>
              <a:gd name="adj" fmla="val 6000"/>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400" b="1">
                <a:solidFill>
                  <a:srgbClr val="FFFFFF"/>
                </a:solidFill>
                <a:latin typeface="Calibri"/>
              </a:rPr>
              <a:t>Sep '26</a:t>
            </a:r>
          </a:p>
        </p:txBody>
      </p:sp>
      <p:cxnSp>
        <p:nvCxnSpPr>
          <p:cNvPr id="10" name="Connector 9"/>
          <p:cNvCxnSpPr/>
          <p:nvPr/>
        </p:nvCxnSpPr>
        <p:spPr>
          <a:xfrm>
            <a:off x="9479280" y="3063240"/>
            <a:ext cx="0" cy="5742432"/>
          </a:xfrm>
          <a:prstGeom prst="line">
            <a:avLst/>
          </a:prstGeom>
          <a:ln w="12700">
            <a:solidFill>
              <a:srgbClr val="E1E7E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1558016" y="2514600"/>
            <a:ext cx="1969008" cy="502920"/>
          </a:xfrm>
          <a:prstGeom prst="roundRect">
            <a:avLst>
              <a:gd name="adj" fmla="val 6000"/>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400" b="1">
                <a:solidFill>
                  <a:srgbClr val="FFFFFF"/>
                </a:solidFill>
                <a:latin typeface="Calibri"/>
              </a:rPr>
              <a:t>Oct '26</a:t>
            </a:r>
          </a:p>
        </p:txBody>
      </p:sp>
      <p:cxnSp>
        <p:nvCxnSpPr>
          <p:cNvPr id="12" name="Connector 11"/>
          <p:cNvCxnSpPr/>
          <p:nvPr/>
        </p:nvCxnSpPr>
        <p:spPr>
          <a:xfrm>
            <a:off x="11521440" y="3063240"/>
            <a:ext cx="0" cy="5742432"/>
          </a:xfrm>
          <a:prstGeom prst="line">
            <a:avLst/>
          </a:prstGeom>
          <a:ln w="12700">
            <a:solidFill>
              <a:srgbClr val="E1E7E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3600176" y="2514600"/>
            <a:ext cx="1969008" cy="502920"/>
          </a:xfrm>
          <a:prstGeom prst="roundRect">
            <a:avLst>
              <a:gd name="adj" fmla="val 6000"/>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400" b="1">
                <a:solidFill>
                  <a:srgbClr val="FFFFFF"/>
                </a:solidFill>
                <a:latin typeface="Calibri"/>
              </a:rPr>
              <a:t>Nov '26</a:t>
            </a:r>
          </a:p>
        </p:txBody>
      </p:sp>
      <p:cxnSp>
        <p:nvCxnSpPr>
          <p:cNvPr id="14" name="Connector 13"/>
          <p:cNvCxnSpPr/>
          <p:nvPr/>
        </p:nvCxnSpPr>
        <p:spPr>
          <a:xfrm>
            <a:off x="13563600" y="3063240"/>
            <a:ext cx="0" cy="5742432"/>
          </a:xfrm>
          <a:prstGeom prst="line">
            <a:avLst/>
          </a:prstGeom>
          <a:ln w="12700">
            <a:solidFill>
              <a:srgbClr val="E1E7E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5642336" y="2514600"/>
            <a:ext cx="1969008" cy="502920"/>
          </a:xfrm>
          <a:prstGeom prst="roundRect">
            <a:avLst>
              <a:gd name="adj" fmla="val 6000"/>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r>
              <a:rPr sz="1400" b="1">
                <a:solidFill>
                  <a:srgbClr val="FFFFFF"/>
                </a:solidFill>
                <a:latin typeface="Calibri"/>
              </a:rPr>
              <a:t>Dec '26</a:t>
            </a:r>
          </a:p>
        </p:txBody>
      </p:sp>
      <p:cxnSp>
        <p:nvCxnSpPr>
          <p:cNvPr id="16" name="Connector 15"/>
          <p:cNvCxnSpPr/>
          <p:nvPr/>
        </p:nvCxnSpPr>
        <p:spPr>
          <a:xfrm>
            <a:off x="15605760" y="3063240"/>
            <a:ext cx="0" cy="5742432"/>
          </a:xfrm>
          <a:prstGeom prst="line">
            <a:avLst/>
          </a:prstGeom>
          <a:ln w="12700">
            <a:solidFill>
              <a:srgbClr val="E1E7E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7647920" y="3063240"/>
            <a:ext cx="0" cy="5742432"/>
          </a:xfrm>
          <a:prstGeom prst="line">
            <a:avLst/>
          </a:prstGeom>
          <a:ln w="12700">
            <a:solidFill>
              <a:srgbClr val="E1E7E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3246120"/>
            <a:ext cx="4709160" cy="603504"/>
          </a:xfrm>
          <a:prstGeom prst="rect">
            <a:avLst/>
          </a:prstGeom>
          <a:noFill/>
        </p:spPr>
        <p:txBody>
          <a:bodyPr wrap="square" anchor="ctr">
            <a:spAutoFit/>
          </a:bodyPr>
          <a:lstStyle/>
          <a:p>
            <a:pPr>
              <a:lnSpc>
                <a:spcPct val="92000"/>
              </a:lnSpc>
            </a:pPr>
            <a:r>
              <a:rPr sz="1500">
                <a:solidFill>
                  <a:srgbClr val="1A1A1A"/>
                </a:solidFill>
                <a:latin typeface="Times New Roman"/>
              </a:rPr>
              <a:t>Literature review &amp; problem finalization</a:t>
            </a:r>
          </a:p>
        </p:txBody>
      </p:sp>
      <p:sp>
        <p:nvSpPr>
          <p:cNvPr id="19" name="Rounded Rectangle 18"/>
          <p:cNvSpPr/>
          <p:nvPr/>
        </p:nvSpPr>
        <p:spPr>
          <a:xfrm>
            <a:off x="5449824" y="3319272"/>
            <a:ext cx="3974592" cy="457200"/>
          </a:xfrm>
          <a:prstGeom prst="roundRect">
            <a:avLst>
              <a:gd name="adj" fmla="val 18000"/>
            </a:avLst>
          </a:prstGeom>
          <a:solidFill>
            <a:srgbClr val="3461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21" name="TextBox 20"/>
          <p:cNvSpPr txBox="1"/>
          <p:nvPr/>
        </p:nvSpPr>
        <p:spPr>
          <a:xfrm>
            <a:off x="548640" y="3941063"/>
            <a:ext cx="4709160" cy="603504"/>
          </a:xfrm>
          <a:prstGeom prst="rect">
            <a:avLst/>
          </a:prstGeom>
          <a:noFill/>
        </p:spPr>
        <p:txBody>
          <a:bodyPr wrap="square" anchor="ctr">
            <a:spAutoFit/>
          </a:bodyPr>
          <a:lstStyle/>
          <a:p>
            <a:pPr>
              <a:lnSpc>
                <a:spcPct val="92000"/>
              </a:lnSpc>
            </a:pPr>
            <a:r>
              <a:rPr sz="1500">
                <a:solidFill>
                  <a:srgbClr val="1A1A1A"/>
                </a:solidFill>
                <a:latin typeface="Times New Roman"/>
              </a:rPr>
              <a:t>System design &amp; architecture</a:t>
            </a:r>
          </a:p>
        </p:txBody>
      </p:sp>
      <p:sp>
        <p:nvSpPr>
          <p:cNvPr id="22" name="Rounded Rectangle 21"/>
          <p:cNvSpPr/>
          <p:nvPr/>
        </p:nvSpPr>
        <p:spPr>
          <a:xfrm>
            <a:off x="7491984" y="4014215"/>
            <a:ext cx="3974592" cy="457200"/>
          </a:xfrm>
          <a:prstGeom prst="roundRect">
            <a:avLst>
              <a:gd name="adj" fmla="val 18000"/>
            </a:avLst>
          </a:prstGeom>
          <a:solidFill>
            <a:srgbClr val="3461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23" name="TextBox 22"/>
          <p:cNvSpPr txBox="1"/>
          <p:nvPr/>
        </p:nvSpPr>
        <p:spPr>
          <a:xfrm>
            <a:off x="548640" y="4636008"/>
            <a:ext cx="4709160" cy="603504"/>
          </a:xfrm>
          <a:prstGeom prst="rect">
            <a:avLst/>
          </a:prstGeom>
          <a:noFill/>
        </p:spPr>
        <p:txBody>
          <a:bodyPr wrap="square" anchor="ctr">
            <a:spAutoFit/>
          </a:bodyPr>
          <a:lstStyle/>
          <a:p>
            <a:pPr>
              <a:lnSpc>
                <a:spcPct val="92000"/>
              </a:lnSpc>
            </a:pPr>
            <a:r>
              <a:rPr sz="1500">
                <a:solidFill>
                  <a:srgbClr val="1A1A1A"/>
                </a:solidFill>
                <a:latin typeface="Times New Roman"/>
              </a:rPr>
              <a:t>Phase 1: decision engine &amp; compression</a:t>
            </a:r>
          </a:p>
        </p:txBody>
      </p:sp>
      <p:sp>
        <p:nvSpPr>
          <p:cNvPr id="24" name="Rounded Rectangle 23"/>
          <p:cNvSpPr/>
          <p:nvPr/>
        </p:nvSpPr>
        <p:spPr>
          <a:xfrm>
            <a:off x="9534144" y="4709160"/>
            <a:ext cx="3974592" cy="457200"/>
          </a:xfrm>
          <a:prstGeom prst="roundRect">
            <a:avLst>
              <a:gd name="adj" fmla="val 18000"/>
            </a:avLst>
          </a:prstGeom>
          <a:solidFill>
            <a:srgbClr val="4E7C9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26" name="TextBox 25"/>
          <p:cNvSpPr txBox="1"/>
          <p:nvPr/>
        </p:nvSpPr>
        <p:spPr>
          <a:xfrm>
            <a:off x="548640" y="5330952"/>
            <a:ext cx="4709160" cy="603504"/>
          </a:xfrm>
          <a:prstGeom prst="rect">
            <a:avLst/>
          </a:prstGeom>
          <a:noFill/>
        </p:spPr>
        <p:txBody>
          <a:bodyPr wrap="square" anchor="ctr">
            <a:spAutoFit/>
          </a:bodyPr>
          <a:lstStyle/>
          <a:p>
            <a:pPr>
              <a:lnSpc>
                <a:spcPct val="92000"/>
              </a:lnSpc>
            </a:pPr>
            <a:r>
              <a:rPr sz="1500">
                <a:solidFill>
                  <a:srgbClr val="1A1A1A"/>
                </a:solidFill>
                <a:latin typeface="Times New Roman"/>
              </a:rPr>
              <a:t>Phase 2: hierarchical memory store</a:t>
            </a:r>
          </a:p>
        </p:txBody>
      </p:sp>
      <p:sp>
        <p:nvSpPr>
          <p:cNvPr id="27" name="Rounded Rectangle 26"/>
          <p:cNvSpPr/>
          <p:nvPr/>
        </p:nvSpPr>
        <p:spPr>
          <a:xfrm>
            <a:off x="11576304" y="5404104"/>
            <a:ext cx="1932432" cy="457200"/>
          </a:xfrm>
          <a:prstGeom prst="roundRect">
            <a:avLst>
              <a:gd name="adj" fmla="val 18000"/>
            </a:avLst>
          </a:prstGeom>
          <a:solidFill>
            <a:srgbClr val="4E7C9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28" name="TextBox 27"/>
          <p:cNvSpPr txBox="1"/>
          <p:nvPr/>
        </p:nvSpPr>
        <p:spPr>
          <a:xfrm>
            <a:off x="548640" y="6025896"/>
            <a:ext cx="4709160" cy="603504"/>
          </a:xfrm>
          <a:prstGeom prst="rect">
            <a:avLst/>
          </a:prstGeom>
          <a:noFill/>
        </p:spPr>
        <p:txBody>
          <a:bodyPr wrap="square" anchor="ctr">
            <a:spAutoFit/>
          </a:bodyPr>
          <a:lstStyle/>
          <a:p>
            <a:pPr>
              <a:lnSpc>
                <a:spcPct val="92000"/>
              </a:lnSpc>
            </a:pPr>
            <a:r>
              <a:rPr sz="1500">
                <a:solidFill>
                  <a:srgbClr val="1A1A1A"/>
                </a:solidFill>
                <a:latin typeface="Times New Roman"/>
              </a:rPr>
              <a:t>Phase 3: forgetting &amp; retrieval policy</a:t>
            </a:r>
          </a:p>
        </p:txBody>
      </p:sp>
      <p:sp>
        <p:nvSpPr>
          <p:cNvPr id="29" name="Rounded Rectangle 28"/>
          <p:cNvSpPr/>
          <p:nvPr/>
        </p:nvSpPr>
        <p:spPr>
          <a:xfrm>
            <a:off x="11576304" y="6099048"/>
            <a:ext cx="3974592" cy="457200"/>
          </a:xfrm>
          <a:prstGeom prst="roundRect">
            <a:avLst>
              <a:gd name="adj" fmla="val 18000"/>
            </a:avLst>
          </a:prstGeom>
          <a:solidFill>
            <a:srgbClr val="4E7C9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31" name="TextBox 30"/>
          <p:cNvSpPr txBox="1"/>
          <p:nvPr/>
        </p:nvSpPr>
        <p:spPr>
          <a:xfrm>
            <a:off x="548640" y="6720840"/>
            <a:ext cx="4709160" cy="603504"/>
          </a:xfrm>
          <a:prstGeom prst="rect">
            <a:avLst/>
          </a:prstGeom>
          <a:noFill/>
        </p:spPr>
        <p:txBody>
          <a:bodyPr wrap="square" anchor="ctr">
            <a:spAutoFit/>
          </a:bodyPr>
          <a:lstStyle/>
          <a:p>
            <a:pPr>
              <a:lnSpc>
                <a:spcPct val="92000"/>
              </a:lnSpc>
            </a:pPr>
            <a:r>
              <a:rPr sz="1500">
                <a:solidFill>
                  <a:srgbClr val="1A1A1A"/>
                </a:solidFill>
                <a:latin typeface="Times New Roman"/>
              </a:rPr>
              <a:t>Integration with LLM / agent</a:t>
            </a:r>
          </a:p>
        </p:txBody>
      </p:sp>
      <p:sp>
        <p:nvSpPr>
          <p:cNvPr id="32" name="Rounded Rectangle 31"/>
          <p:cNvSpPr/>
          <p:nvPr/>
        </p:nvSpPr>
        <p:spPr>
          <a:xfrm>
            <a:off x="13618464" y="6793992"/>
            <a:ext cx="1932432" cy="457200"/>
          </a:xfrm>
          <a:prstGeom prst="roundRect">
            <a:avLst>
              <a:gd name="adj" fmla="val 18000"/>
            </a:avLst>
          </a:prstGeom>
          <a:solidFill>
            <a:srgbClr val="2738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33" name="TextBox 32"/>
          <p:cNvSpPr txBox="1"/>
          <p:nvPr/>
        </p:nvSpPr>
        <p:spPr>
          <a:xfrm>
            <a:off x="548640" y="7415783"/>
            <a:ext cx="4709160" cy="603504"/>
          </a:xfrm>
          <a:prstGeom prst="rect">
            <a:avLst/>
          </a:prstGeom>
          <a:noFill/>
        </p:spPr>
        <p:txBody>
          <a:bodyPr wrap="square" anchor="ctr">
            <a:spAutoFit/>
          </a:bodyPr>
          <a:lstStyle/>
          <a:p>
            <a:pPr>
              <a:lnSpc>
                <a:spcPct val="92000"/>
              </a:lnSpc>
            </a:pPr>
            <a:r>
              <a:rPr sz="1500">
                <a:solidFill>
                  <a:srgbClr val="1A1A1A"/>
                </a:solidFill>
                <a:latin typeface="Times New Roman"/>
              </a:rPr>
              <a:t>Evaluation &amp; benchmarking</a:t>
            </a:r>
          </a:p>
        </p:txBody>
      </p:sp>
      <p:sp>
        <p:nvSpPr>
          <p:cNvPr id="34" name="Rounded Rectangle 33"/>
          <p:cNvSpPr/>
          <p:nvPr/>
        </p:nvSpPr>
        <p:spPr>
          <a:xfrm>
            <a:off x="13618464" y="7488936"/>
            <a:ext cx="3974592" cy="457200"/>
          </a:xfrm>
          <a:prstGeom prst="roundRect">
            <a:avLst>
              <a:gd name="adj" fmla="val 18000"/>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sp>
        <p:nvSpPr>
          <p:cNvPr id="36" name="TextBox 35"/>
          <p:cNvSpPr txBox="1"/>
          <p:nvPr/>
        </p:nvSpPr>
        <p:spPr>
          <a:xfrm>
            <a:off x="548640" y="8110728"/>
            <a:ext cx="4709160" cy="603504"/>
          </a:xfrm>
          <a:prstGeom prst="rect">
            <a:avLst/>
          </a:prstGeom>
          <a:noFill/>
        </p:spPr>
        <p:txBody>
          <a:bodyPr wrap="square" anchor="ctr">
            <a:spAutoFit/>
          </a:bodyPr>
          <a:lstStyle/>
          <a:p>
            <a:pPr>
              <a:lnSpc>
                <a:spcPct val="92000"/>
              </a:lnSpc>
            </a:pPr>
            <a:r>
              <a:rPr sz="1500">
                <a:solidFill>
                  <a:srgbClr val="1A1A1A"/>
                </a:solidFill>
                <a:latin typeface="Times New Roman"/>
              </a:rPr>
              <a:t>Documentation &amp; final presentation</a:t>
            </a:r>
          </a:p>
        </p:txBody>
      </p:sp>
      <p:sp>
        <p:nvSpPr>
          <p:cNvPr id="37" name="Rounded Rectangle 36"/>
          <p:cNvSpPr/>
          <p:nvPr/>
        </p:nvSpPr>
        <p:spPr>
          <a:xfrm>
            <a:off x="15660624" y="8183880"/>
            <a:ext cx="1932432" cy="457200"/>
          </a:xfrm>
          <a:prstGeom prst="roundRect">
            <a:avLst>
              <a:gd name="adj" fmla="val 18000"/>
            </a:avLst>
          </a:prstGeom>
          <a:solidFill>
            <a:srgbClr val="2738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lnSpc>
                <a:spcPct val="95000"/>
              </a:lnSpc>
            </a:pPr>
            <a:endParaRPr/>
          </a:p>
        </p:txBody>
      </p:sp>
      <p:cxnSp>
        <p:nvCxnSpPr>
          <p:cNvPr id="38" name="Connector 37"/>
          <p:cNvCxnSpPr/>
          <p:nvPr/>
        </p:nvCxnSpPr>
        <p:spPr>
          <a:xfrm>
            <a:off x="6926580" y="3063240"/>
            <a:ext cx="0" cy="5742432"/>
          </a:xfrm>
          <a:prstGeom prst="line">
            <a:avLst/>
          </a:prstGeom>
          <a:ln w="19050">
            <a:solidFill>
              <a:srgbClr val="34617C"/>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1521440" y="3063240"/>
            <a:ext cx="0" cy="5742432"/>
          </a:xfrm>
          <a:prstGeom prst="line">
            <a:avLst/>
          </a:prstGeom>
          <a:ln w="19050">
            <a:solidFill>
              <a:srgbClr val="4E7C93"/>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6831056" y="3063240"/>
            <a:ext cx="0" cy="5742432"/>
          </a:xfrm>
          <a:prstGeom prst="line">
            <a:avLst/>
          </a:prstGeom>
          <a:ln w="19050">
            <a:solidFill>
              <a:srgbClr val="C1272D"/>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57200" y="8915399"/>
            <a:ext cx="16459200" cy="365760"/>
          </a:xfrm>
          <a:prstGeom prst="rect">
            <a:avLst/>
          </a:prstGeom>
          <a:noFill/>
        </p:spPr>
        <p:txBody>
          <a:bodyPr wrap="square">
            <a:spAutoFit/>
          </a:bodyPr>
          <a:lstStyle/>
          <a:p>
            <a:r>
              <a:rPr sz="1300">
                <a:solidFill>
                  <a:srgbClr val="34617C"/>
                </a:solidFill>
                <a:latin typeface="Calibri"/>
              </a:rPr>
              <a:t>●  Review 1 (now, late Jul)      </a:t>
            </a:r>
            <a:r>
              <a:rPr sz="1300">
                <a:solidFill>
                  <a:srgbClr val="4E7C93"/>
                </a:solidFill>
                <a:latin typeface="Calibri"/>
              </a:rPr>
              <a:t>●  Review 2 (~Oct)      </a:t>
            </a:r>
            <a:r>
              <a:rPr sz="1300">
                <a:solidFill>
                  <a:srgbClr val="C1272D"/>
                </a:solidFill>
                <a:latin typeface="Calibri"/>
              </a:rPr>
              <a:t>●  Final review (Dec)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0" y="2221743"/>
          <a:ext cx="18288000" cy="7016115"/>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gridCol w="3048000">
                  <a:extLst>
                    <a:ext uri="{9D8B030D-6E8A-4147-A177-3AD203B41FA5}">
                      <a16:colId xmlns:a16="http://schemas.microsoft.com/office/drawing/2014/main" val="20004"/>
                    </a:ext>
                  </a:extLst>
                </a:gridCol>
                <a:gridCol w="3048000">
                  <a:extLst>
                    <a:ext uri="{9D8B030D-6E8A-4147-A177-3AD203B41FA5}">
                      <a16:colId xmlns:a16="http://schemas.microsoft.com/office/drawing/2014/main" val="20005"/>
                    </a:ext>
                  </a:extLst>
                </a:gridCol>
              </a:tblGrid>
              <a:tr h="875665">
                <a:tc>
                  <a:txBody>
                    <a:bodyPr/>
                    <a:lstStyle/>
                    <a:p>
                      <a:pPr algn="ctr">
                        <a:lnSpc>
                          <a:spcPct val="95000"/>
                        </a:lnSpc>
                        <a:spcBef>
                          <a:spcPts val="675"/>
                        </a:spcBef>
                      </a:pPr>
                      <a:r>
                        <a:rPr sz="1400" b="1">
                          <a:solidFill>
                            <a:srgbClr val="1A1A1A"/>
                          </a:solidFill>
                          <a:latin typeface="Times New Roman"/>
                        </a:rPr>
                        <a:t>Paper Title</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ctr">
                        <a:lnSpc>
                          <a:spcPct val="95000"/>
                        </a:lnSpc>
                        <a:spcBef>
                          <a:spcPts val="675"/>
                        </a:spcBef>
                      </a:pPr>
                      <a:r>
                        <a:rPr sz="1400" b="1">
                          <a:solidFill>
                            <a:srgbClr val="1A1A1A"/>
                          </a:solidFill>
                          <a:latin typeface="Times New Roman"/>
                        </a:rPr>
                        <a:t>Dataset / Benchmark</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ctr">
                        <a:lnSpc>
                          <a:spcPct val="95000"/>
                        </a:lnSpc>
                        <a:spcBef>
                          <a:spcPts val="675"/>
                        </a:spcBef>
                      </a:pPr>
                      <a:r>
                        <a:rPr sz="1400" b="1">
                          <a:solidFill>
                            <a:srgbClr val="1A1A1A"/>
                          </a:solidFill>
                          <a:latin typeface="Times New Roman"/>
                        </a:rPr>
                        <a:t>Technology Used</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ctr">
                        <a:lnSpc>
                          <a:spcPct val="95000"/>
                        </a:lnSpc>
                        <a:spcBef>
                          <a:spcPts val="675"/>
                        </a:spcBef>
                      </a:pPr>
                      <a:r>
                        <a:rPr sz="1400" b="1">
                          <a:solidFill>
                            <a:srgbClr val="1A1A1A"/>
                          </a:solidFill>
                          <a:latin typeface="Times New Roman"/>
                        </a:rPr>
                        <a:t>Achievements</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ctr">
                        <a:lnSpc>
                          <a:spcPct val="95000"/>
                        </a:lnSpc>
                        <a:spcBef>
                          <a:spcPts val="675"/>
                        </a:spcBef>
                      </a:pPr>
                      <a:r>
                        <a:rPr sz="1400" b="1">
                          <a:solidFill>
                            <a:srgbClr val="1A1A1A"/>
                          </a:solidFill>
                          <a:latin typeface="Times New Roman"/>
                        </a:rPr>
                        <a:t>Limitations</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ctr">
                        <a:lnSpc>
                          <a:spcPct val="95000"/>
                        </a:lnSpc>
                        <a:spcBef>
                          <a:spcPts val="675"/>
                        </a:spcBef>
                      </a:pPr>
                      <a:r>
                        <a:rPr sz="1400" b="1">
                          <a:solidFill>
                            <a:srgbClr val="1A1A1A"/>
                          </a:solidFill>
                          <a:latin typeface="Times New Roman"/>
                        </a:rPr>
                        <a:t>Gap Addressed (Proposed Work)</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0"/>
                  </a:ext>
                </a:extLst>
              </a:tr>
              <a:tr h="1238250">
                <a:tc>
                  <a:txBody>
                    <a:bodyPr/>
                    <a:lstStyle/>
                    <a:p>
                      <a:pPr marL="76200" marR="502920" algn="l">
                        <a:lnSpc>
                          <a:spcPct val="95000"/>
                        </a:lnSpc>
                        <a:spcBef>
                          <a:spcPts val="1425"/>
                        </a:spcBef>
                      </a:pPr>
                      <a:r>
                        <a:rPr sz="1250" b="1">
                          <a:solidFill>
                            <a:srgbClr val="1A1A1A"/>
                          </a:solidFill>
                          <a:latin typeface="Times New Roman"/>
                        </a:rPr>
                        <a:t>MemGPT — Packer et al. (2023)</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745"/>
                        </a:spcBef>
                      </a:pPr>
                      <a:r>
                        <a:rPr sz="1250" b="0">
                          <a:solidFill>
                            <a:srgbClr val="1A1A1A"/>
                          </a:solidFill>
                          <a:latin typeface="Times New Roman"/>
                        </a:rPr>
                        <a:t>Multi-Session Chat; document QA</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1050"/>
                        </a:spcBef>
                      </a:pPr>
                      <a:r>
                        <a:rPr sz="1250" b="0">
                          <a:solidFill>
                            <a:srgbClr val="1A1A1A"/>
                          </a:solidFill>
                          <a:latin typeface="Times New Roman"/>
                        </a:rPr>
                        <a:t>Tiered memory; LLM self-editing via function calls</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715645" algn="l">
                        <a:lnSpc>
                          <a:spcPct val="95000"/>
                        </a:lnSpc>
                        <a:spcBef>
                          <a:spcPts val="1425"/>
                        </a:spcBef>
                      </a:pPr>
                      <a:r>
                        <a:rPr sz="1250" b="0">
                          <a:solidFill>
                            <a:srgbClr val="1A1A1A"/>
                          </a:solidFill>
                          <a:latin typeface="Times New Roman"/>
                        </a:rPr>
                        <a:t>Pages context in and out to work beyond the window ("LLM as an OS")</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745"/>
                        </a:spcBef>
                      </a:pPr>
                      <a:r>
                        <a:rPr sz="1250" b="0">
                          <a:solidFill>
                            <a:srgbClr val="1A1A1A"/>
                          </a:solidFill>
                          <a:latin typeface="Times New Roman"/>
                        </a:rPr>
                        <a:t>Leaves memory decisions to the LLM; no adaptive importance scoring or compression</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81280" algn="l">
                        <a:lnSpc>
                          <a:spcPct val="95000"/>
                        </a:lnSpc>
                        <a:spcBef>
                          <a:spcPts val="375"/>
                        </a:spcBef>
                      </a:pPr>
                      <a:r>
                        <a:rPr sz="1250" b="0">
                          <a:solidFill>
                            <a:srgbClr val="1A1A1A"/>
                          </a:solidFill>
                          <a:latin typeface="Times New Roman"/>
                        </a:rPr>
                        <a:t>Adds an adaptive importance scoring policy and compression on top of tiered storage</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1"/>
                  </a:ext>
                </a:extLst>
              </a:tr>
              <a:tr h="1219200">
                <a:tc>
                  <a:txBody>
                    <a:bodyPr/>
                    <a:lstStyle/>
                    <a:p>
                      <a:pPr marL="76200" marR="123189" algn="l">
                        <a:lnSpc>
                          <a:spcPct val="95000"/>
                        </a:lnSpc>
                        <a:spcBef>
                          <a:spcPts val="300"/>
                        </a:spcBef>
                      </a:pPr>
                      <a:r>
                        <a:rPr sz="1250" b="1">
                          <a:solidFill>
                            <a:srgbClr val="1A1A1A"/>
                          </a:solidFill>
                          <a:latin typeface="Times New Roman"/>
                        </a:rPr>
                        <a:t>MemoryBank — Zhong et al. (2024)</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670"/>
                        </a:spcBef>
                      </a:pPr>
                      <a:r>
                        <a:rPr sz="1250" b="0">
                          <a:solidFill>
                            <a:srgbClr val="1A1A1A"/>
                          </a:solidFill>
                          <a:latin typeface="Times New Roman"/>
                        </a:rPr>
                        <a:t>Long-term dialogue (SiliconFriend)</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670"/>
                        </a:spcBef>
                      </a:pPr>
                      <a:r>
                        <a:rPr sz="1250" b="0">
                          <a:solidFill>
                            <a:srgbClr val="1A1A1A"/>
                          </a:solidFill>
                          <a:latin typeface="Times New Roman"/>
                        </a:rPr>
                        <a:t>Vector memory + Ebbinghaus forgetting curve</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670"/>
                        </a:spcBef>
                      </a:pPr>
                      <a:r>
                        <a:rPr sz="1250" b="0">
                          <a:solidFill>
                            <a:srgbClr val="1A1A1A"/>
                          </a:solidFill>
                          <a:latin typeface="Times New Roman"/>
                        </a:rPr>
                        <a:t>Time-decayed forgetting and reinforcement for human-like recall</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670"/>
                        </a:spcBef>
                      </a:pPr>
                      <a:r>
                        <a:rPr sz="1250" b="0">
                          <a:solidFill>
                            <a:srgbClr val="1A1A1A"/>
                          </a:solidFill>
                          <a:latin typeface="Times New Roman"/>
                        </a:rPr>
                        <a:t>Forgets by elapsed time, not importance; no budget compression</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229235" algn="l">
                        <a:lnSpc>
                          <a:spcPct val="95000"/>
                        </a:lnSpc>
                        <a:spcBef>
                          <a:spcPts val="300"/>
                        </a:spcBef>
                      </a:pPr>
                      <a:r>
                        <a:rPr sz="1250" b="0">
                          <a:solidFill>
                            <a:srgbClr val="1A1A1A"/>
                          </a:solidFill>
                          <a:latin typeface="Times New Roman"/>
                        </a:rPr>
                        <a:t>Forgets by adaptive importance scoring and compresses to a fixed token budget</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2"/>
                  </a:ext>
                </a:extLst>
              </a:tr>
              <a:tr h="1485900">
                <a:tc>
                  <a:txBody>
                    <a:bodyPr/>
                    <a:lstStyle/>
                    <a:p>
                      <a:pPr marL="76200" algn="l">
                        <a:lnSpc>
                          <a:spcPct val="95000"/>
                        </a:lnSpc>
                        <a:spcBef>
                          <a:spcPts val="600"/>
                        </a:spcBef>
                      </a:pPr>
                      <a:r>
                        <a:rPr sz="1250" b="1">
                          <a:solidFill>
                            <a:srgbClr val="1A1A1A"/>
                          </a:solidFill>
                          <a:latin typeface="Times New Roman"/>
                        </a:rPr>
                        <a:t>Generative Agents — Park et al. (2023)</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670"/>
                        </a:spcBef>
                      </a:pPr>
                      <a:r>
                        <a:rPr sz="1250" b="0">
                          <a:solidFill>
                            <a:srgbClr val="1A1A1A"/>
                          </a:solidFill>
                          <a:latin typeface="Times New Roman"/>
                        </a:rPr>
                        <a:t>Sandbox agent simulation</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670"/>
                        </a:spcBef>
                      </a:pPr>
                      <a:r>
                        <a:rPr sz="1250" b="0">
                          <a:solidFill>
                            <a:srgbClr val="1A1A1A"/>
                          </a:solidFill>
                          <a:latin typeface="Times New Roman"/>
                        </a:rPr>
                        <a:t>Memory stream + retrieval (recency, importance, relevance) + reflection</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670"/>
                        </a:spcBef>
                      </a:pPr>
                      <a:r>
                        <a:rPr sz="1250" b="0">
                          <a:solidFill>
                            <a:srgbClr val="1A1A1A"/>
                          </a:solidFill>
                          <a:latin typeface="Times New Roman"/>
                        </a:rPr>
                        <a:t>Retrieval scoring and reflection sustain coherent long-horizon behaviour</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313690" algn="l">
                        <a:lnSpc>
                          <a:spcPct val="95000"/>
                        </a:lnSpc>
                        <a:spcBef>
                          <a:spcPts val="1350"/>
                        </a:spcBef>
                      </a:pPr>
                      <a:r>
                        <a:rPr sz="1250" b="0">
                          <a:solidFill>
                            <a:srgbClr val="1A1A1A"/>
                          </a:solidFill>
                          <a:latin typeface="Times New Roman"/>
                        </a:rPr>
                        <a:t>Stores the full stream (unbounded); not built to cut tokens or cost</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213360" algn="l">
                        <a:lnSpc>
                          <a:spcPct val="95000"/>
                        </a:lnSpc>
                        <a:spcBef>
                          <a:spcPts val="300"/>
                        </a:spcBef>
                      </a:pPr>
                      <a:r>
                        <a:rPr sz="1250" b="0">
                          <a:solidFill>
                            <a:srgbClr val="1A1A1A"/>
                          </a:solidFill>
                          <a:latin typeface="Times New Roman"/>
                        </a:rPr>
                        <a:t>Bounds the store via compression and forgetting; keeps retrieval scoring</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3"/>
                  </a:ext>
                </a:extLst>
              </a:tr>
              <a:tr h="977900">
                <a:tc>
                  <a:txBody>
                    <a:bodyPr/>
                    <a:lstStyle/>
                    <a:p>
                      <a:pPr marL="76200" marR="133350" algn="l">
                        <a:lnSpc>
                          <a:spcPct val="95000"/>
                        </a:lnSpc>
                        <a:spcBef>
                          <a:spcPts val="375"/>
                        </a:spcBef>
                      </a:pPr>
                      <a:r>
                        <a:rPr sz="1250" b="1">
                          <a:solidFill>
                            <a:srgbClr val="1A1A1A"/>
                          </a:solidFill>
                          <a:latin typeface="Times New Roman"/>
                        </a:rPr>
                        <a:t>StreamingLLM — Xiao et al. (2024)</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1050"/>
                        </a:spcBef>
                      </a:pPr>
                      <a:r>
                        <a:rPr sz="1250" b="0">
                          <a:solidFill>
                            <a:srgbClr val="1A1A1A"/>
                          </a:solidFill>
                          <a:latin typeface="Times New Roman"/>
                        </a:rPr>
                        <a:t>Long-stream language modelling (up to millions of tokens)</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323850" algn="l">
                        <a:lnSpc>
                          <a:spcPct val="95000"/>
                        </a:lnSpc>
                        <a:spcBef>
                          <a:spcPts val="1425"/>
                        </a:spcBef>
                      </a:pPr>
                      <a:r>
                        <a:rPr sz="1250" b="0">
                          <a:solidFill>
                            <a:srgbClr val="1A1A1A"/>
                          </a:solidFill>
                          <a:latin typeface="Times New Roman"/>
                        </a:rPr>
                        <a:t>Attention sinks + rolling KV cache</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329565" algn="l">
                        <a:lnSpc>
                          <a:spcPct val="95000"/>
                        </a:lnSpc>
                        <a:spcBef>
                          <a:spcPts val="1425"/>
                        </a:spcBef>
                      </a:pPr>
                      <a:r>
                        <a:rPr sz="1250" b="0">
                          <a:solidFill>
                            <a:srgbClr val="1A1A1A"/>
                          </a:solidFill>
                          <a:latin typeface="Times New Roman"/>
                        </a:rPr>
                        <a:t>Stable generation over very long streams, up to ~22x faster</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445770" algn="l">
                        <a:lnSpc>
                          <a:spcPct val="95000"/>
                        </a:lnSpc>
                        <a:spcBef>
                          <a:spcPts val="1425"/>
                        </a:spcBef>
                      </a:pPr>
                      <a:r>
                        <a:rPr sz="1250" b="0">
                          <a:solidFill>
                            <a:srgbClr val="1A1A1A"/>
                          </a:solidFill>
                          <a:latin typeface="Times New Roman"/>
                        </a:rPr>
                        <a:t>Keeps only a window plus sinks; old content is dropped for good</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165100" algn="l">
                        <a:lnSpc>
                          <a:spcPct val="95000"/>
                        </a:lnSpc>
                        <a:spcBef>
                          <a:spcPts val="375"/>
                        </a:spcBef>
                      </a:pPr>
                      <a:r>
                        <a:rPr sz="1250" b="0">
                          <a:solidFill>
                            <a:srgbClr val="1A1A1A"/>
                          </a:solidFill>
                          <a:latin typeface="Times New Roman"/>
                        </a:rPr>
                        <a:t>Moves old content to compressed and long-term tiers so it can return</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4"/>
                  </a:ext>
                </a:extLst>
              </a:tr>
              <a:tr h="1219200">
                <a:tc>
                  <a:txBody>
                    <a:bodyPr/>
                    <a:lstStyle/>
                    <a:p>
                      <a:pPr marL="76200" marR="238760" algn="l">
                        <a:lnSpc>
                          <a:spcPct val="95000"/>
                        </a:lnSpc>
                        <a:spcBef>
                          <a:spcPts val="300"/>
                        </a:spcBef>
                      </a:pPr>
                      <a:r>
                        <a:rPr sz="1250" b="1">
                          <a:solidFill>
                            <a:srgbClr val="1A1A1A"/>
                          </a:solidFill>
                          <a:latin typeface="Times New Roman"/>
                        </a:rPr>
                        <a:t>H2O — Zhang et al. (2023)</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670"/>
                        </a:spcBef>
                      </a:pPr>
                      <a:r>
                        <a:rPr sz="1250" b="0">
                          <a:solidFill>
                            <a:srgbClr val="1A1A1A"/>
                          </a:solidFill>
                          <a:latin typeface="Times New Roman"/>
                        </a:rPr>
                        <a:t>OPT / LLaMA across tasks</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670"/>
                        </a:spcBef>
                      </a:pPr>
                      <a:r>
                        <a:rPr sz="1250" b="0">
                          <a:solidFill>
                            <a:srgbClr val="1A1A1A"/>
                          </a:solidFill>
                          <a:latin typeface="Times New Roman"/>
                        </a:rPr>
                        <a:t>KV-cache eviction keeping "heavy-hitter" tokens</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117475" algn="l">
                        <a:lnSpc>
                          <a:spcPct val="95000"/>
                        </a:lnSpc>
                        <a:spcBef>
                          <a:spcPts val="1350"/>
                        </a:spcBef>
                      </a:pPr>
                      <a:r>
                        <a:rPr sz="1250" b="0">
                          <a:solidFill>
                            <a:srgbClr val="1A1A1A"/>
                          </a:solidFill>
                          <a:latin typeface="Times New Roman"/>
                        </a:rPr>
                        <a:t>Large cache savings and higher throughput with little quality loss</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670"/>
                        </a:spcBef>
                      </a:pPr>
                      <a:r>
                        <a:rPr sz="1250" b="0">
                          <a:solidFill>
                            <a:srgbClr val="1A1A1A"/>
                          </a:solidFill>
                          <a:latin typeface="Times New Roman"/>
                        </a:rPr>
                        <a:t>Token / KV level within one context; no semantic long-term memory</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260985" algn="l">
                        <a:lnSpc>
                          <a:spcPct val="95000"/>
                        </a:lnSpc>
                        <a:spcBef>
                          <a:spcPts val="300"/>
                        </a:spcBef>
                      </a:pPr>
                      <a:r>
                        <a:rPr sz="1250" b="0">
                          <a:solidFill>
                            <a:srgbClr val="1A1A1A"/>
                          </a:solidFill>
                          <a:latin typeface="Times New Roman"/>
                        </a:rPr>
                        <a:t>Manages memory at the conversation level and adds long-term recall</a:t>
                      </a:r>
                      <a:endParaRPr sz="15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5"/>
                  </a:ext>
                </a:extLst>
              </a:tr>
            </a:tbl>
          </a:graphicData>
        </a:graphic>
      </p:graphicFrame>
      <p:sp>
        <p:nvSpPr>
          <p:cNvPr id="3" name="object 3"/>
          <p:cNvSpPr txBox="1">
            <a:spLocks noGrp="1"/>
          </p:cNvSpPr>
          <p:nvPr>
            <p:ph type="title"/>
          </p:nvPr>
        </p:nvSpPr>
        <p:spPr>
          <a:xfrm>
            <a:off x="822960" y="603504"/>
            <a:ext cx="16642080" cy="1371600"/>
          </a:xfrm>
          <a:prstGeom prst="rect">
            <a:avLst/>
          </a:prstGeom>
        </p:spPr>
        <p:txBody>
          <a:bodyPr vert="horz" wrap="square" lIns="0" tIns="12700" rIns="0" bIns="0" rtlCol="0" anchor="ctr">
            <a:noAutofit/>
          </a:bodyPr>
          <a:lstStyle/>
          <a:p>
            <a:pPr marL="13335" algn="ctr">
              <a:lnSpc>
                <a:spcPct val="100000"/>
              </a:lnSpc>
              <a:spcBef>
                <a:spcPts val="100"/>
              </a:spcBef>
            </a:pPr>
            <a:r>
              <a:rPr sz="4200" b="1">
                <a:solidFill>
                  <a:srgbClr val="111111"/>
                </a:solidFill>
                <a:latin typeface="Times New Roman"/>
              </a:rPr>
              <a:t>Literature Review  (1 of 2)</a:t>
            </a:r>
          </a:p>
        </p:txBody>
      </p:sp>
      <p:sp>
        <p:nvSpPr>
          <p:cNvPr id="4" name="object 4"/>
          <p:cNvSpPr txBox="1"/>
          <p:nvPr/>
        </p:nvSpPr>
        <p:spPr>
          <a:xfrm>
            <a:off x="3704610" y="9511766"/>
            <a:ext cx="10878820" cy="299720"/>
          </a:xfrm>
          <a:prstGeom prst="rect">
            <a:avLst/>
          </a:prstGeom>
        </p:spPr>
        <p:txBody>
          <a:bodyPr vert="horz" wrap="square" lIns="0" tIns="12700" rIns="0" bIns="0" rtlCol="0">
            <a:spAutoFit/>
          </a:bodyPr>
          <a:lstStyle/>
          <a:p>
            <a:pPr marL="12700" algn="ctr">
              <a:lnSpc>
                <a:spcPct val="100000"/>
              </a:lnSpc>
              <a:spcBef>
                <a:spcPts val="100"/>
              </a:spcBef>
            </a:pPr>
            <a:r>
              <a:rPr sz="1400" b="1">
                <a:solidFill>
                  <a:srgbClr val="1A1A1A"/>
                </a:solidFill>
                <a:latin typeface="Times New Roman"/>
              </a:rPr>
              <a:t>Evaluation will use the following metrics: tokens per turn, cost and latency reduction, memory-retrieval accuracy, and end-task success (F1 / exact-match) on long-conversation benchmarks.</a:t>
            </a:r>
            <a:endParaRPr sz="180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0" y="2128468"/>
          <a:ext cx="18288000" cy="7422513"/>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gridCol w="3048000">
                  <a:extLst>
                    <a:ext uri="{9D8B030D-6E8A-4147-A177-3AD203B41FA5}">
                      <a16:colId xmlns:a16="http://schemas.microsoft.com/office/drawing/2014/main" val="20004"/>
                    </a:ext>
                  </a:extLst>
                </a:gridCol>
                <a:gridCol w="3048000">
                  <a:extLst>
                    <a:ext uri="{9D8B030D-6E8A-4147-A177-3AD203B41FA5}">
                      <a16:colId xmlns:a16="http://schemas.microsoft.com/office/drawing/2014/main" val="20005"/>
                    </a:ext>
                  </a:extLst>
                </a:gridCol>
              </a:tblGrid>
              <a:tr h="826769">
                <a:tc>
                  <a:txBody>
                    <a:bodyPr/>
                    <a:lstStyle/>
                    <a:p>
                      <a:pPr algn="ctr">
                        <a:lnSpc>
                          <a:spcPct val="95000"/>
                        </a:lnSpc>
                        <a:spcBef>
                          <a:spcPts val="235"/>
                        </a:spcBef>
                      </a:pPr>
                      <a:r>
                        <a:rPr sz="1400" b="1">
                          <a:solidFill>
                            <a:srgbClr val="1A1A1A"/>
                          </a:solidFill>
                          <a:latin typeface="Times New Roman"/>
                        </a:rPr>
                        <a:t>Paper Title</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ctr">
                        <a:lnSpc>
                          <a:spcPct val="95000"/>
                        </a:lnSpc>
                        <a:spcBef>
                          <a:spcPts val="235"/>
                        </a:spcBef>
                      </a:pPr>
                      <a:r>
                        <a:rPr sz="1400" b="1">
                          <a:solidFill>
                            <a:srgbClr val="1A1A1A"/>
                          </a:solidFill>
                          <a:latin typeface="Times New Roman"/>
                        </a:rPr>
                        <a:t>Dataset / Benchmark</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ctr">
                        <a:lnSpc>
                          <a:spcPct val="95000"/>
                        </a:lnSpc>
                        <a:spcBef>
                          <a:spcPts val="235"/>
                        </a:spcBef>
                      </a:pPr>
                      <a:r>
                        <a:rPr sz="1400" b="1">
                          <a:solidFill>
                            <a:srgbClr val="1A1A1A"/>
                          </a:solidFill>
                          <a:latin typeface="Times New Roman"/>
                        </a:rPr>
                        <a:t>Technology Used</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ctr">
                        <a:lnSpc>
                          <a:spcPct val="95000"/>
                        </a:lnSpc>
                        <a:spcBef>
                          <a:spcPts val="235"/>
                        </a:spcBef>
                      </a:pPr>
                      <a:r>
                        <a:rPr sz="1400" b="1">
                          <a:solidFill>
                            <a:srgbClr val="1A1A1A"/>
                          </a:solidFill>
                          <a:latin typeface="Times New Roman"/>
                        </a:rPr>
                        <a:t>Achievements</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ctr">
                        <a:lnSpc>
                          <a:spcPct val="95000"/>
                        </a:lnSpc>
                        <a:spcBef>
                          <a:spcPts val="235"/>
                        </a:spcBef>
                      </a:pPr>
                      <a:r>
                        <a:rPr sz="1400" b="1">
                          <a:solidFill>
                            <a:srgbClr val="1A1A1A"/>
                          </a:solidFill>
                          <a:latin typeface="Times New Roman"/>
                        </a:rPr>
                        <a:t>Limitations</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ctr">
                        <a:lnSpc>
                          <a:spcPct val="95000"/>
                        </a:lnSpc>
                        <a:spcBef>
                          <a:spcPts val="235"/>
                        </a:spcBef>
                      </a:pPr>
                      <a:r>
                        <a:rPr sz="1400" b="1">
                          <a:solidFill>
                            <a:srgbClr val="1A1A1A"/>
                          </a:solidFill>
                          <a:latin typeface="Times New Roman"/>
                        </a:rPr>
                        <a:t>Gap Addressed (Proposed Work)</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0"/>
                  </a:ext>
                </a:extLst>
              </a:tr>
              <a:tr h="1530985">
                <a:tc>
                  <a:txBody>
                    <a:bodyPr/>
                    <a:lstStyle/>
                    <a:p>
                      <a:pPr marL="75565" marR="158750" algn="l">
                        <a:lnSpc>
                          <a:spcPct val="95000"/>
                        </a:lnSpc>
                        <a:spcBef>
                          <a:spcPts val="1245"/>
                        </a:spcBef>
                      </a:pPr>
                      <a:r>
                        <a:rPr sz="1250" b="1">
                          <a:solidFill>
                            <a:srgbClr val="1A1A1A"/>
                          </a:solidFill>
                          <a:latin typeface="Times New Roman"/>
                        </a:rPr>
                        <a:t>LLMLingua — Jiang et al. (2023)</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160020" algn="l">
                        <a:lnSpc>
                          <a:spcPct val="95000"/>
                        </a:lnSpc>
                        <a:spcBef>
                          <a:spcPts val="1245"/>
                        </a:spcBef>
                      </a:pPr>
                      <a:r>
                        <a:rPr sz="1250" b="0">
                          <a:solidFill>
                            <a:srgbClr val="1A1A1A"/>
                          </a:solidFill>
                          <a:latin typeface="Times New Roman"/>
                        </a:rPr>
                        <a:t>GSM8K, BBH, and others</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algn="l">
                        <a:lnSpc>
                          <a:spcPct val="95000"/>
                        </a:lnSpc>
                        <a:spcBef>
                          <a:spcPts val="1550"/>
                        </a:spcBef>
                      </a:pPr>
                      <a:r>
                        <a:rPr sz="1250" b="0">
                          <a:solidFill>
                            <a:srgbClr val="1A1A1A"/>
                          </a:solidFill>
                          <a:latin typeface="Times New Roman"/>
                        </a:rPr>
                        <a:t>Budget controller + token-level prompt compression</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114935" algn="l">
                        <a:lnSpc>
                          <a:spcPct val="95000"/>
                        </a:lnSpc>
                        <a:spcBef>
                          <a:spcPts val="265"/>
                        </a:spcBef>
                      </a:pPr>
                      <a:r>
                        <a:rPr sz="1250" b="0">
                          <a:solidFill>
                            <a:srgbClr val="1A1A1A"/>
                          </a:solidFill>
                          <a:latin typeface="Times New Roman"/>
                        </a:rPr>
                        <a:t>Up to ~20x prompt compression with small quality loss</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540"/>
                        </a:spcBef>
                      </a:pPr>
                      <a:r>
                        <a:rPr sz="1250" b="0">
                          <a:solidFill>
                            <a:srgbClr val="1A1A1A"/>
                          </a:solidFill>
                          <a:latin typeface="Times New Roman"/>
                        </a:rPr>
                        <a:t>Compresses a given prompt; does not decide what to store or forget</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540"/>
                        </a:spcBef>
                      </a:pPr>
                      <a:r>
                        <a:rPr sz="1250" b="0">
                          <a:solidFill>
                            <a:srgbClr val="1A1A1A"/>
                          </a:solidFill>
                          <a:latin typeface="Times New Roman"/>
                        </a:rPr>
                        <a:t>Uses compression as one action inside a keep / forget / retrieve policy</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1"/>
                  </a:ext>
                </a:extLst>
              </a:tr>
              <a:tr h="1225550">
                <a:tc>
                  <a:txBody>
                    <a:bodyPr/>
                    <a:lstStyle/>
                    <a:p>
                      <a:pPr marL="75565" marR="238760" algn="l">
                        <a:lnSpc>
                          <a:spcPct val="95000"/>
                        </a:lnSpc>
                        <a:spcBef>
                          <a:spcPts val="245"/>
                        </a:spcBef>
                      </a:pPr>
                      <a:r>
                        <a:rPr sz="1250" b="1">
                          <a:solidFill>
                            <a:srgbClr val="1A1A1A"/>
                          </a:solidFill>
                          <a:latin typeface="Times New Roman"/>
                        </a:rPr>
                        <a:t>Gist Tokens — Mu et al. (2023)</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1810"/>
                        </a:spcBef>
                      </a:pPr>
                      <a:r>
                        <a:rPr sz="1250" b="0">
                          <a:solidFill>
                            <a:srgbClr val="1A1A1A"/>
                          </a:solidFill>
                          <a:latin typeface="Times New Roman"/>
                        </a:rPr>
                        <a:t>Instruction-following (LLaMA-7B, FLAN-T5)</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355"/>
                        </a:spcBef>
                      </a:pPr>
                      <a:r>
                        <a:rPr sz="1250" b="0">
                          <a:solidFill>
                            <a:srgbClr val="1A1A1A"/>
                          </a:solidFill>
                          <a:latin typeface="Times New Roman"/>
                        </a:rPr>
                        <a:t>Distils a prompt into a few reusable "gist" vectors</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402590" algn="l">
                        <a:lnSpc>
                          <a:spcPct val="95000"/>
                        </a:lnSpc>
                        <a:spcBef>
                          <a:spcPts val="1180"/>
                        </a:spcBef>
                      </a:pPr>
                      <a:r>
                        <a:rPr sz="1250" b="0">
                          <a:solidFill>
                            <a:srgbClr val="1A1A1A"/>
                          </a:solidFill>
                          <a:latin typeface="Times New Roman"/>
                        </a:rPr>
                        <a:t>Up to ~26x compression, cacheable and reusable</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355"/>
                        </a:spcBef>
                      </a:pPr>
                      <a:r>
                        <a:rPr sz="1250" b="0">
                          <a:solidFill>
                            <a:srgbClr val="1A1A1A"/>
                          </a:solidFill>
                          <a:latin typeface="Times New Roman"/>
                        </a:rPr>
                        <a:t>Aimed at fixed instructions, not evolving dialogue memory</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182245" algn="l">
                        <a:lnSpc>
                          <a:spcPct val="95000"/>
                        </a:lnSpc>
                        <a:spcBef>
                          <a:spcPts val="1180"/>
                        </a:spcBef>
                      </a:pPr>
                      <a:r>
                        <a:rPr sz="1250" b="0">
                          <a:solidFill>
                            <a:srgbClr val="1A1A1A"/>
                          </a:solidFill>
                          <a:latin typeface="Times New Roman"/>
                        </a:rPr>
                        <a:t>Applies learned compression to changing history and manages its lifecycle</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2"/>
                  </a:ext>
                </a:extLst>
              </a:tr>
              <a:tr h="1011555">
                <a:tc>
                  <a:txBody>
                    <a:bodyPr/>
                    <a:lstStyle/>
                    <a:p>
                      <a:pPr marL="75565" marR="668020" algn="l">
                        <a:lnSpc>
                          <a:spcPct val="95000"/>
                        </a:lnSpc>
                        <a:spcBef>
                          <a:spcPts val="245"/>
                        </a:spcBef>
                      </a:pPr>
                      <a:r>
                        <a:rPr sz="1250" b="1">
                          <a:solidFill>
                            <a:srgbClr val="1A1A1A"/>
                          </a:solidFill>
                          <a:latin typeface="Times New Roman"/>
                        </a:rPr>
                        <a:t>AutoCompressors — Chevalier et al. (2023)</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165735" algn="l">
                        <a:lnSpc>
                          <a:spcPct val="95000"/>
                        </a:lnSpc>
                        <a:spcBef>
                          <a:spcPts val="1370"/>
                        </a:spcBef>
                      </a:pPr>
                      <a:r>
                        <a:rPr sz="1250" b="0">
                          <a:solidFill>
                            <a:srgbClr val="1A1A1A"/>
                          </a:solidFill>
                          <a:latin typeface="Times New Roman"/>
                        </a:rPr>
                        <a:t>Long-context LM; in-context learning</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algn="l">
                        <a:lnSpc>
                          <a:spcPct val="95000"/>
                        </a:lnSpc>
                        <a:spcBef>
                          <a:spcPts val="1700"/>
                        </a:spcBef>
                      </a:pPr>
                      <a:r>
                        <a:rPr sz="1250" b="0">
                          <a:solidFill>
                            <a:srgbClr val="1A1A1A"/>
                          </a:solidFill>
                          <a:latin typeface="Times New Roman"/>
                        </a:rPr>
                        <a:t>Recursive "summary vectors" used as soft prompts</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187960" algn="l">
                        <a:lnSpc>
                          <a:spcPct val="95000"/>
                        </a:lnSpc>
                        <a:spcBef>
                          <a:spcPts val="1370"/>
                        </a:spcBef>
                      </a:pPr>
                      <a:r>
                        <a:rPr sz="1250" b="0">
                          <a:solidFill>
                            <a:srgbClr val="1A1A1A"/>
                          </a:solidFill>
                          <a:latin typeface="Times New Roman"/>
                        </a:rPr>
                        <a:t>Compresses long context into compact vectors; cuts inference cost</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459740" algn="l">
                        <a:lnSpc>
                          <a:spcPct val="95000"/>
                        </a:lnSpc>
                        <a:spcBef>
                          <a:spcPts val="1370"/>
                        </a:spcBef>
                      </a:pPr>
                      <a:r>
                        <a:rPr sz="1250" b="0">
                          <a:solidFill>
                            <a:srgbClr val="1A1A1A"/>
                          </a:solidFill>
                          <a:latin typeface="Times New Roman"/>
                        </a:rPr>
                        <a:t>Vectors are opaque; no explicit forgetting or fact retrieval</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142875" algn="l">
                        <a:lnSpc>
                          <a:spcPct val="95000"/>
                        </a:lnSpc>
                        <a:spcBef>
                          <a:spcPts val="245"/>
                        </a:spcBef>
                      </a:pPr>
                      <a:r>
                        <a:rPr sz="1250" b="0">
                          <a:solidFill>
                            <a:srgbClr val="1A1A1A"/>
                          </a:solidFill>
                          <a:latin typeface="Times New Roman"/>
                        </a:rPr>
                        <a:t>Keeps readable summaries plus a retrievable long-term store</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3"/>
                  </a:ext>
                </a:extLst>
              </a:tr>
              <a:tr h="1010919">
                <a:tc>
                  <a:txBody>
                    <a:bodyPr/>
                    <a:lstStyle/>
                    <a:p>
                      <a:pPr algn="l">
                        <a:lnSpc>
                          <a:spcPct val="95000"/>
                        </a:lnSpc>
                        <a:spcBef>
                          <a:spcPts val="985"/>
                        </a:spcBef>
                      </a:pPr>
                      <a:r>
                        <a:rPr sz="1250" b="1">
                          <a:solidFill>
                            <a:srgbClr val="1A1A1A"/>
                          </a:solidFill>
                          <a:latin typeface="Times New Roman"/>
                        </a:rPr>
                        <a:t>Agent Memory Survey — Zhang et al. (2024)</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657225" algn="l">
                        <a:lnSpc>
                          <a:spcPct val="95000"/>
                        </a:lnSpc>
                        <a:spcBef>
                          <a:spcPts val="1370"/>
                        </a:spcBef>
                      </a:pPr>
                      <a:r>
                        <a:rPr sz="1250" b="0">
                          <a:solidFill>
                            <a:srgbClr val="1A1A1A"/>
                          </a:solidFill>
                          <a:latin typeface="Times New Roman"/>
                        </a:rPr>
                        <a:t>—  (survey)</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985"/>
                        </a:spcBef>
                      </a:pPr>
                      <a:r>
                        <a:rPr sz="1250" b="0">
                          <a:solidFill>
                            <a:srgbClr val="1A1A1A"/>
                          </a:solidFill>
                          <a:latin typeface="Times New Roman"/>
                        </a:rPr>
                        <a:t>Taxonomy of agent memory (forms, operations, evaluation)</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171450" algn="l">
                        <a:lnSpc>
                          <a:spcPct val="95000"/>
                        </a:lnSpc>
                        <a:spcBef>
                          <a:spcPts val="245"/>
                        </a:spcBef>
                      </a:pPr>
                      <a:r>
                        <a:rPr sz="1250" b="0">
                          <a:solidFill>
                            <a:srgbClr val="1A1A1A"/>
                          </a:solidFill>
                          <a:latin typeface="Times New Roman"/>
                        </a:rPr>
                        <a:t>Organizes the field and motivates why memory matters for agents</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605790" algn="l">
                        <a:lnSpc>
                          <a:spcPct val="95000"/>
                        </a:lnSpc>
                        <a:spcBef>
                          <a:spcPts val="245"/>
                        </a:spcBef>
                      </a:pPr>
                      <a:r>
                        <a:rPr sz="1250" b="0">
                          <a:solidFill>
                            <a:srgbClr val="1A1A1A"/>
                          </a:solidFill>
                          <a:latin typeface="Times New Roman"/>
                        </a:rPr>
                        <a:t>Survey only; no system or implementation</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374650" algn="l">
                        <a:lnSpc>
                          <a:spcPct val="95000"/>
                        </a:lnSpc>
                        <a:spcBef>
                          <a:spcPts val="245"/>
                        </a:spcBef>
                      </a:pPr>
                      <a:r>
                        <a:rPr sz="1250" b="0">
                          <a:solidFill>
                            <a:srgbClr val="1A1A1A"/>
                          </a:solidFill>
                          <a:latin typeface="Times New Roman"/>
                        </a:rPr>
                        <a:t>Instantiates several of its recommendations in one working system</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4"/>
                  </a:ext>
                </a:extLst>
              </a:tr>
              <a:tr h="1816735">
                <a:tc>
                  <a:txBody>
                    <a:bodyPr/>
                    <a:lstStyle/>
                    <a:p>
                      <a:pPr marL="75565" marR="154305" algn="l">
                        <a:lnSpc>
                          <a:spcPct val="95000"/>
                        </a:lnSpc>
                        <a:spcBef>
                          <a:spcPts val="1240"/>
                        </a:spcBef>
                      </a:pPr>
                      <a:r>
                        <a:rPr sz="1250" b="1">
                          <a:solidFill>
                            <a:srgbClr val="1A1A1A"/>
                          </a:solidFill>
                          <a:latin typeface="Times New Roman"/>
                        </a:rPr>
                        <a:t>A-MEM — Xu et al. (2025)</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5565" marR="290195" algn="l">
                        <a:lnSpc>
                          <a:spcPct val="95000"/>
                        </a:lnSpc>
                        <a:spcBef>
                          <a:spcPts val="260"/>
                        </a:spcBef>
                      </a:pPr>
                      <a:r>
                        <a:rPr sz="1250" b="0">
                          <a:solidFill>
                            <a:srgbClr val="1A1A1A"/>
                          </a:solidFill>
                          <a:latin typeface="Times New Roman"/>
                        </a:rPr>
                        <a:t>LoCoMo multi-hop QA (six foundation models)</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530"/>
                        </a:spcBef>
                      </a:pPr>
                      <a:r>
                        <a:rPr sz="1250" b="0">
                          <a:solidFill>
                            <a:srgbClr val="1A1A1A"/>
                          </a:solidFill>
                          <a:latin typeface="Times New Roman"/>
                        </a:rPr>
                        <a:t>Zettelkasten-style notes; dynamic linking and revision</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137160" algn="l">
                        <a:lnSpc>
                          <a:spcPct val="95000"/>
                        </a:lnSpc>
                        <a:spcBef>
                          <a:spcPts val="1240"/>
                        </a:spcBef>
                      </a:pPr>
                      <a:r>
                        <a:rPr sz="1250" b="0">
                          <a:solidFill>
                            <a:srgbClr val="1A1A1A"/>
                          </a:solidFill>
                          <a:latin typeface="Times New Roman"/>
                        </a:rPr>
                        <a:t>2–6x better multi-hop reasoning with token savings</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algn="l">
                        <a:lnSpc>
                          <a:spcPct val="95000"/>
                        </a:lnSpc>
                        <a:spcBef>
                          <a:spcPts val="530"/>
                        </a:spcBef>
                      </a:pPr>
                      <a:r>
                        <a:rPr sz="1250" b="0">
                          <a:solidFill>
                            <a:srgbClr val="1A1A1A"/>
                          </a:solidFill>
                          <a:latin typeface="Times New Roman"/>
                        </a:rPr>
                        <a:t>Focuses on linking notes; less on strict budget compression</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tc>
                  <a:txBody>
                    <a:bodyPr/>
                    <a:lstStyle/>
                    <a:p>
                      <a:pPr marL="76200" marR="210820" algn="l">
                        <a:lnSpc>
                          <a:spcPct val="95000"/>
                        </a:lnSpc>
                        <a:spcBef>
                          <a:spcPts val="1240"/>
                        </a:spcBef>
                      </a:pPr>
                      <a:r>
                        <a:rPr sz="1250" b="0">
                          <a:solidFill>
                            <a:srgbClr val="1A1A1A"/>
                          </a:solidFill>
                          <a:latin typeface="Times New Roman"/>
                        </a:rPr>
                        <a:t>Adds budget-driven compression and forgetting to self-organizing memory</a:t>
                      </a:r>
                      <a:endParaRPr sz="1600">
                        <a:latin typeface="Times New Roman"/>
                        <a:cs typeface="Times New Roman"/>
                      </a:endParaRPr>
                    </a:p>
                  </a:txBody>
                  <a:tcPr marL="54864" marR="54864" marT="27432" marB="27432">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tcPr>
                </a:tc>
                <a:extLst>
                  <a:ext uri="{0D108BD9-81ED-4DB2-BD59-A6C34878D82A}">
                    <a16:rowId xmlns:a16="http://schemas.microsoft.com/office/drawing/2014/main" val="10005"/>
                  </a:ext>
                </a:extLst>
              </a:tr>
            </a:tbl>
          </a:graphicData>
        </a:graphic>
      </p:graphicFrame>
      <p:sp>
        <p:nvSpPr>
          <p:cNvPr id="3" name="object 3"/>
          <p:cNvSpPr txBox="1">
            <a:spLocks noGrp="1"/>
          </p:cNvSpPr>
          <p:nvPr>
            <p:ph type="title"/>
          </p:nvPr>
        </p:nvSpPr>
        <p:spPr>
          <a:xfrm>
            <a:off x="822960" y="603504"/>
            <a:ext cx="16642080" cy="1371600"/>
          </a:xfrm>
          <a:prstGeom prst="rect">
            <a:avLst/>
          </a:prstGeom>
        </p:spPr>
        <p:txBody>
          <a:bodyPr vert="horz" wrap="square" lIns="0" tIns="12700" rIns="0" bIns="0" rtlCol="0" anchor="ctr">
            <a:noAutofit/>
          </a:bodyPr>
          <a:lstStyle/>
          <a:p>
            <a:pPr marL="13335" algn="ctr">
              <a:lnSpc>
                <a:spcPct val="100000"/>
              </a:lnSpc>
              <a:spcBef>
                <a:spcPts val="100"/>
              </a:spcBef>
            </a:pPr>
            <a:r>
              <a:rPr sz="4200" b="1">
                <a:solidFill>
                  <a:srgbClr val="111111"/>
                </a:solidFill>
                <a:latin typeface="Times New Roman"/>
              </a:rPr>
              <a:t>Literature Review  (2 of 2)</a:t>
            </a:r>
          </a:p>
        </p:txBody>
      </p:sp>
      <p:sp>
        <p:nvSpPr>
          <p:cNvPr id="4" name="object 4"/>
          <p:cNvSpPr txBox="1"/>
          <p:nvPr/>
        </p:nvSpPr>
        <p:spPr>
          <a:xfrm>
            <a:off x="3704610" y="9654656"/>
            <a:ext cx="10878820" cy="299720"/>
          </a:xfrm>
          <a:prstGeom prst="rect">
            <a:avLst/>
          </a:prstGeom>
        </p:spPr>
        <p:txBody>
          <a:bodyPr vert="horz" wrap="square" lIns="0" tIns="12700" rIns="0" bIns="0" rtlCol="0">
            <a:spAutoFit/>
          </a:bodyPr>
          <a:lstStyle/>
          <a:p>
            <a:pPr marL="12700" algn="ctr">
              <a:lnSpc>
                <a:spcPct val="100000"/>
              </a:lnSpc>
              <a:spcBef>
                <a:spcPts val="100"/>
              </a:spcBef>
            </a:pPr>
            <a:r>
              <a:rPr sz="1400" b="1">
                <a:solidFill>
                  <a:srgbClr val="1A1A1A"/>
                </a:solidFill>
                <a:latin typeface="Times New Roman"/>
              </a:rPr>
              <a:t>Evaluation will use the following metrics: tokens per turn, cost and latency reduction, memory-retrieval accuracy, and end-task success (F1 / exact-match) on long-conversation benchmarks.</a:t>
            </a:r>
            <a:endParaRPr sz="18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2960" y="603504"/>
            <a:ext cx="16642080" cy="1371600"/>
          </a:xfrm>
          <a:prstGeom prst="rect">
            <a:avLst/>
          </a:prstGeom>
        </p:spPr>
        <p:txBody>
          <a:bodyPr vert="horz" wrap="square" lIns="0" tIns="12700" rIns="0" bIns="0" rtlCol="0" anchor="ctr">
            <a:noAutofit/>
          </a:bodyPr>
          <a:lstStyle/>
          <a:p>
            <a:pPr marL="12700" algn="ctr">
              <a:lnSpc>
                <a:spcPct val="100000"/>
              </a:lnSpc>
              <a:spcBef>
                <a:spcPts val="100"/>
              </a:spcBef>
            </a:pPr>
            <a:r>
              <a:rPr sz="4200" b="1" dirty="0">
                <a:solidFill>
                  <a:srgbClr val="111111"/>
                </a:solidFill>
                <a:latin typeface="Times New Roman"/>
              </a:rPr>
              <a:t>References</a:t>
            </a:r>
          </a:p>
        </p:txBody>
      </p:sp>
      <p:sp>
        <p:nvSpPr>
          <p:cNvPr id="3" name="object 3"/>
          <p:cNvSpPr txBox="1">
            <a:spLocks noGrp="1"/>
          </p:cNvSpPr>
          <p:nvPr>
            <p:ph type="body" idx="1"/>
          </p:nvPr>
        </p:nvSpPr>
        <p:spPr>
          <a:xfrm>
            <a:off x="640080" y="2286000"/>
            <a:ext cx="17007840" cy="5860579"/>
          </a:xfrm>
          <a:prstGeom prst="rect">
            <a:avLst/>
          </a:prstGeom>
        </p:spPr>
        <p:txBody>
          <a:bodyPr vert="horz" wrap="square" lIns="0" tIns="12700" rIns="0" bIns="0" rtlCol="0">
            <a:spAutoFit/>
          </a:bodyPr>
          <a:lstStyle/>
          <a:p>
            <a:pPr marL="469265" marR="5080" indent="-342900" algn="l">
              <a:lnSpc>
                <a:spcPct val="100000"/>
              </a:lnSpc>
              <a:spcBef>
                <a:spcPts val="100"/>
              </a:spcBef>
              <a:spcAft>
                <a:spcPts val="800"/>
              </a:spcAft>
              <a:buFont typeface="Arial" panose="020B0604020202020204" pitchFamily="34" charset="0"/>
              <a:buChar char="•"/>
              <a:tabLst>
                <a:tab pos="320675" algn="l"/>
              </a:tabLst>
            </a:pPr>
            <a:r>
              <a:rPr lang="en-IN" sz="2000" b="1" dirty="0">
                <a:solidFill>
                  <a:srgbClr val="C1272D"/>
                </a:solidFill>
                <a:latin typeface="Times New Roman"/>
              </a:rPr>
              <a:t> </a:t>
            </a:r>
            <a:r>
              <a:rPr sz="2000" b="0" dirty="0">
                <a:solidFill>
                  <a:srgbClr val="1A1A1A"/>
                </a:solidFill>
                <a:latin typeface="Times New Roman"/>
              </a:rPr>
              <a:t>Packer, Charles, et al. "</a:t>
            </a:r>
            <a:r>
              <a:rPr sz="2000" b="0" dirty="0" err="1">
                <a:solidFill>
                  <a:srgbClr val="1A1A1A"/>
                </a:solidFill>
                <a:latin typeface="Times New Roman"/>
              </a:rPr>
              <a:t>MemGPT</a:t>
            </a:r>
            <a:r>
              <a:rPr sz="2000" b="0" dirty="0">
                <a:solidFill>
                  <a:srgbClr val="1A1A1A"/>
                </a:solidFill>
                <a:latin typeface="Times New Roman"/>
              </a:rPr>
              <a:t>: Towards LLMs as Operating Systems." </a:t>
            </a:r>
            <a:r>
              <a:rPr sz="2000" b="0" dirty="0" err="1">
                <a:solidFill>
                  <a:srgbClr val="1A1A1A"/>
                </a:solidFill>
                <a:latin typeface="Times New Roman"/>
              </a:rPr>
              <a:t>arXiv</a:t>
            </a:r>
            <a:r>
              <a:rPr sz="2000" b="0" dirty="0">
                <a:solidFill>
                  <a:srgbClr val="1A1A1A"/>
                </a:solidFill>
                <a:latin typeface="Times New Roman"/>
              </a:rPr>
              <a:t> preprint arXiv:2310.08560 (2023).</a:t>
            </a:r>
          </a:p>
          <a:p>
            <a:pPr marL="342900" indent="-342900" algn="l">
              <a:lnSpc>
                <a:spcPct val="100000"/>
              </a:lnSpc>
              <a:spcAft>
                <a:spcPts val="800"/>
              </a:spcAft>
              <a:buFont typeface="Arial" panose="020B0604020202020204" pitchFamily="34" charset="0"/>
              <a:buChar char="•"/>
            </a:pPr>
            <a:r>
              <a:rPr lang="en-IN" sz="2000" b="1" dirty="0">
                <a:solidFill>
                  <a:srgbClr val="C1272D"/>
                </a:solidFill>
                <a:latin typeface="Times New Roman"/>
              </a:rPr>
              <a:t> </a:t>
            </a:r>
            <a:r>
              <a:rPr sz="2000" b="0" dirty="0">
                <a:solidFill>
                  <a:srgbClr val="1A1A1A"/>
                </a:solidFill>
                <a:latin typeface="Times New Roman"/>
              </a:rPr>
              <a:t>Zhong, Wanjun, et al. "</a:t>
            </a:r>
            <a:r>
              <a:rPr sz="2000" b="0" dirty="0" err="1">
                <a:solidFill>
                  <a:srgbClr val="1A1A1A"/>
                </a:solidFill>
                <a:latin typeface="Times New Roman"/>
              </a:rPr>
              <a:t>MemoryBank</a:t>
            </a:r>
            <a:r>
              <a:rPr sz="2000" b="0" dirty="0">
                <a:solidFill>
                  <a:srgbClr val="1A1A1A"/>
                </a:solidFill>
                <a:latin typeface="Times New Roman"/>
              </a:rPr>
              <a:t>: Enhancing Large Language Models with Long-Term Memory." Proceedings of the AAAI Conference on Artificial Intelligence, vol. 38, no. 17, 2024, pp. 19724–19731.</a:t>
            </a:r>
          </a:p>
          <a:p>
            <a:pPr marL="342900" indent="-342900" algn="l">
              <a:lnSpc>
                <a:spcPct val="100000"/>
              </a:lnSpc>
              <a:spcAft>
                <a:spcPts val="800"/>
              </a:spcAft>
              <a:buFont typeface="Arial" panose="020B0604020202020204" pitchFamily="34" charset="0"/>
              <a:buChar char="•"/>
            </a:pPr>
            <a:r>
              <a:rPr lang="en-IN" sz="2000" b="1" dirty="0">
                <a:solidFill>
                  <a:srgbClr val="C1272D"/>
                </a:solidFill>
                <a:latin typeface="Times New Roman"/>
              </a:rPr>
              <a:t> </a:t>
            </a:r>
            <a:r>
              <a:rPr sz="2000" b="0" dirty="0">
                <a:solidFill>
                  <a:srgbClr val="1A1A1A"/>
                </a:solidFill>
                <a:latin typeface="Times New Roman"/>
              </a:rPr>
              <a:t>Park, Joon Sung, et al. "Generative Agents: Interactive Simulacra of Human Behavior." Proc. 36th Annual ACM Symposium on User Interface Software and Technology (UIST), 2023.</a:t>
            </a:r>
          </a:p>
          <a:p>
            <a:pPr marL="342900" indent="-342900" algn="l">
              <a:lnSpc>
                <a:spcPct val="100000"/>
              </a:lnSpc>
              <a:spcAft>
                <a:spcPts val="800"/>
              </a:spcAft>
              <a:buFont typeface="Arial" panose="020B0604020202020204" pitchFamily="34" charset="0"/>
              <a:buChar char="•"/>
            </a:pPr>
            <a:r>
              <a:rPr sz="2000" b="1" dirty="0">
                <a:solidFill>
                  <a:srgbClr val="C1272D"/>
                </a:solidFill>
                <a:latin typeface="Times New Roman"/>
              </a:rPr>
              <a:t> </a:t>
            </a:r>
            <a:r>
              <a:rPr sz="2000" b="0" dirty="0">
                <a:solidFill>
                  <a:srgbClr val="1A1A1A"/>
                </a:solidFill>
                <a:latin typeface="Times New Roman"/>
              </a:rPr>
              <a:t>Xiao, </a:t>
            </a:r>
            <a:r>
              <a:rPr sz="2000" b="0" dirty="0" err="1">
                <a:solidFill>
                  <a:srgbClr val="1A1A1A"/>
                </a:solidFill>
                <a:latin typeface="Times New Roman"/>
              </a:rPr>
              <a:t>Guangxuan</a:t>
            </a:r>
            <a:r>
              <a:rPr sz="2000" b="0" dirty="0">
                <a:solidFill>
                  <a:srgbClr val="1A1A1A"/>
                </a:solidFill>
                <a:latin typeface="Times New Roman"/>
              </a:rPr>
              <a:t>, et al. "Efficient Streaming Language Models with Attention Sinks." International Conference on Learning Representations (ICLR), 2024.</a:t>
            </a:r>
          </a:p>
          <a:p>
            <a:pPr marL="342900" indent="-342900" algn="l">
              <a:lnSpc>
                <a:spcPct val="100000"/>
              </a:lnSpc>
              <a:spcAft>
                <a:spcPts val="800"/>
              </a:spcAft>
              <a:buFont typeface="Arial" panose="020B0604020202020204" pitchFamily="34" charset="0"/>
              <a:buChar char="•"/>
            </a:pPr>
            <a:r>
              <a:rPr sz="2000" b="1" dirty="0">
                <a:solidFill>
                  <a:srgbClr val="C1272D"/>
                </a:solidFill>
                <a:latin typeface="Times New Roman"/>
              </a:rPr>
              <a:t> </a:t>
            </a:r>
            <a:r>
              <a:rPr sz="2000" b="0" dirty="0">
                <a:solidFill>
                  <a:srgbClr val="1A1A1A"/>
                </a:solidFill>
                <a:latin typeface="Times New Roman"/>
              </a:rPr>
              <a:t>Zhang, Zhenyu, et al. "H2O: Heavy-Hitter Oracle for Efficient Generative Inference of Large Language Models." Advances in Neural Information Processing Systems (</a:t>
            </a:r>
            <a:r>
              <a:rPr sz="2000" b="0" dirty="0" err="1">
                <a:solidFill>
                  <a:srgbClr val="1A1A1A"/>
                </a:solidFill>
                <a:latin typeface="Times New Roman"/>
              </a:rPr>
              <a:t>NeurIPS</a:t>
            </a:r>
            <a:r>
              <a:rPr sz="2000" b="0" dirty="0">
                <a:solidFill>
                  <a:srgbClr val="1A1A1A"/>
                </a:solidFill>
                <a:latin typeface="Times New Roman"/>
              </a:rPr>
              <a:t>), 2023.</a:t>
            </a:r>
          </a:p>
          <a:p>
            <a:pPr marL="342900" indent="-342900" algn="l">
              <a:lnSpc>
                <a:spcPct val="100000"/>
              </a:lnSpc>
              <a:spcAft>
                <a:spcPts val="800"/>
              </a:spcAft>
              <a:buFont typeface="Arial" panose="020B0604020202020204" pitchFamily="34" charset="0"/>
              <a:buChar char="•"/>
            </a:pPr>
            <a:r>
              <a:rPr sz="2000" b="1" dirty="0">
                <a:solidFill>
                  <a:srgbClr val="C1272D"/>
                </a:solidFill>
                <a:latin typeface="Times New Roman"/>
              </a:rPr>
              <a:t> </a:t>
            </a:r>
            <a:r>
              <a:rPr sz="2000" b="0" dirty="0">
                <a:solidFill>
                  <a:srgbClr val="1A1A1A"/>
                </a:solidFill>
                <a:latin typeface="Times New Roman"/>
              </a:rPr>
              <a:t>Jiang, </a:t>
            </a:r>
            <a:r>
              <a:rPr sz="2000" b="0" dirty="0" err="1">
                <a:solidFill>
                  <a:srgbClr val="1A1A1A"/>
                </a:solidFill>
                <a:latin typeface="Times New Roman"/>
              </a:rPr>
              <a:t>Huiqiang</a:t>
            </a:r>
            <a:r>
              <a:rPr sz="2000" b="0" dirty="0">
                <a:solidFill>
                  <a:srgbClr val="1A1A1A"/>
                </a:solidFill>
                <a:latin typeface="Times New Roman"/>
              </a:rPr>
              <a:t>, et al. "</a:t>
            </a:r>
            <a:r>
              <a:rPr sz="2000" b="0" dirty="0" err="1">
                <a:solidFill>
                  <a:srgbClr val="1A1A1A"/>
                </a:solidFill>
                <a:latin typeface="Times New Roman"/>
              </a:rPr>
              <a:t>LLMLingua</a:t>
            </a:r>
            <a:r>
              <a:rPr sz="2000" b="0" dirty="0">
                <a:solidFill>
                  <a:srgbClr val="1A1A1A"/>
                </a:solidFill>
                <a:latin typeface="Times New Roman"/>
              </a:rPr>
              <a:t>: Compressing Prompts for Accelerated Inference of Large Language Models." Proc. 2023 Conference on Empirical Methods in Natural Language Processing (EMNLP), 2023, pp. 13358–13376.</a:t>
            </a:r>
          </a:p>
          <a:p>
            <a:pPr marL="342900" indent="-342900" algn="l">
              <a:lnSpc>
                <a:spcPct val="100000"/>
              </a:lnSpc>
              <a:spcAft>
                <a:spcPts val="800"/>
              </a:spcAft>
              <a:buFont typeface="Arial" panose="020B0604020202020204" pitchFamily="34" charset="0"/>
              <a:buChar char="•"/>
            </a:pPr>
            <a:r>
              <a:rPr sz="2000" b="1" dirty="0">
                <a:solidFill>
                  <a:srgbClr val="C1272D"/>
                </a:solidFill>
                <a:latin typeface="Times New Roman"/>
              </a:rPr>
              <a:t> </a:t>
            </a:r>
            <a:r>
              <a:rPr sz="2000" b="0" dirty="0">
                <a:solidFill>
                  <a:srgbClr val="1A1A1A"/>
                </a:solidFill>
                <a:latin typeface="Times New Roman"/>
              </a:rPr>
              <a:t>Mu, Jesse, Xiang Lisa Li, and Noah Goodman. "Learning to Compress Prompts with Gist Tokens." Advances in Neural Information Processing Systems (</a:t>
            </a:r>
            <a:r>
              <a:rPr sz="2000" b="0" dirty="0" err="1">
                <a:solidFill>
                  <a:srgbClr val="1A1A1A"/>
                </a:solidFill>
                <a:latin typeface="Times New Roman"/>
              </a:rPr>
              <a:t>NeurIPS</a:t>
            </a:r>
            <a:r>
              <a:rPr sz="2000" b="0" dirty="0">
                <a:solidFill>
                  <a:srgbClr val="1A1A1A"/>
                </a:solidFill>
                <a:latin typeface="Times New Roman"/>
              </a:rPr>
              <a:t>), 2023.</a:t>
            </a:r>
          </a:p>
          <a:p>
            <a:pPr marL="342900" indent="-342900" algn="l">
              <a:lnSpc>
                <a:spcPct val="100000"/>
              </a:lnSpc>
              <a:spcAft>
                <a:spcPts val="800"/>
              </a:spcAft>
              <a:buFont typeface="Arial" panose="020B0604020202020204" pitchFamily="34" charset="0"/>
              <a:buChar char="•"/>
            </a:pPr>
            <a:r>
              <a:rPr sz="2000" b="1" dirty="0">
                <a:solidFill>
                  <a:srgbClr val="C1272D"/>
                </a:solidFill>
                <a:latin typeface="Times New Roman"/>
              </a:rPr>
              <a:t> </a:t>
            </a:r>
            <a:r>
              <a:rPr sz="2000" b="0" dirty="0">
                <a:solidFill>
                  <a:srgbClr val="1A1A1A"/>
                </a:solidFill>
                <a:latin typeface="Times New Roman"/>
              </a:rPr>
              <a:t>Chevalier, Alexis, et al. "Adapting Language Models to Compress Contexts." Proc. 2023 Conference on Empirical Methods in Natural Language Processing (EMNLP), 2023.</a:t>
            </a:r>
          </a:p>
          <a:p>
            <a:pPr marL="342900" indent="-342900" algn="l">
              <a:lnSpc>
                <a:spcPct val="100000"/>
              </a:lnSpc>
              <a:spcAft>
                <a:spcPts val="800"/>
              </a:spcAft>
              <a:buFont typeface="Arial" panose="020B0604020202020204" pitchFamily="34" charset="0"/>
              <a:buChar char="•"/>
            </a:pPr>
            <a:r>
              <a:rPr sz="2000" b="1" dirty="0">
                <a:solidFill>
                  <a:srgbClr val="C1272D"/>
                </a:solidFill>
                <a:latin typeface="Times New Roman"/>
              </a:rPr>
              <a:t> </a:t>
            </a:r>
            <a:r>
              <a:rPr sz="2000" b="0" dirty="0">
                <a:solidFill>
                  <a:srgbClr val="1A1A1A"/>
                </a:solidFill>
                <a:latin typeface="Times New Roman"/>
              </a:rPr>
              <a:t>Zhang, </a:t>
            </a:r>
            <a:r>
              <a:rPr sz="2000" b="0" dirty="0" err="1">
                <a:solidFill>
                  <a:srgbClr val="1A1A1A"/>
                </a:solidFill>
                <a:latin typeface="Times New Roman"/>
              </a:rPr>
              <a:t>Zeyu</a:t>
            </a:r>
            <a:r>
              <a:rPr sz="2000" b="0" dirty="0">
                <a:solidFill>
                  <a:srgbClr val="1A1A1A"/>
                </a:solidFill>
                <a:latin typeface="Times New Roman"/>
              </a:rPr>
              <a:t>, et al. "A Survey on the Memory Mechanism of Large Language Model-Based Agents." </a:t>
            </a:r>
            <a:r>
              <a:rPr sz="2000" b="0" dirty="0" err="1">
                <a:solidFill>
                  <a:srgbClr val="1A1A1A"/>
                </a:solidFill>
                <a:latin typeface="Times New Roman"/>
              </a:rPr>
              <a:t>arXiv</a:t>
            </a:r>
            <a:r>
              <a:rPr sz="2000" b="0" dirty="0">
                <a:solidFill>
                  <a:srgbClr val="1A1A1A"/>
                </a:solidFill>
                <a:latin typeface="Times New Roman"/>
              </a:rPr>
              <a:t> preprint arXiv:2404.13501 (2024).</a:t>
            </a:r>
          </a:p>
          <a:p>
            <a:pPr marL="342900" indent="-342900" algn="l">
              <a:lnSpc>
                <a:spcPct val="100000"/>
              </a:lnSpc>
              <a:spcAft>
                <a:spcPts val="800"/>
              </a:spcAft>
              <a:buFont typeface="Arial" panose="020B0604020202020204" pitchFamily="34" charset="0"/>
              <a:buChar char="•"/>
            </a:pPr>
            <a:r>
              <a:rPr sz="2000" b="1" dirty="0">
                <a:solidFill>
                  <a:srgbClr val="C1272D"/>
                </a:solidFill>
                <a:latin typeface="Times New Roman"/>
              </a:rPr>
              <a:t> </a:t>
            </a:r>
            <a:r>
              <a:rPr sz="2000" b="0" dirty="0">
                <a:solidFill>
                  <a:srgbClr val="1A1A1A"/>
                </a:solidFill>
                <a:latin typeface="Times New Roman"/>
              </a:rPr>
              <a:t>Xu, </a:t>
            </a:r>
            <a:r>
              <a:rPr sz="2000" b="0" dirty="0" err="1">
                <a:solidFill>
                  <a:srgbClr val="1A1A1A"/>
                </a:solidFill>
                <a:latin typeface="Times New Roman"/>
              </a:rPr>
              <a:t>Wujiang</a:t>
            </a:r>
            <a:r>
              <a:rPr sz="2000" b="0" dirty="0">
                <a:solidFill>
                  <a:srgbClr val="1A1A1A"/>
                </a:solidFill>
                <a:latin typeface="Times New Roman"/>
              </a:rPr>
              <a:t>, et al. "A-MEM: Agentic Memory for LLM Agents." Advances in Neural Information Processing Systems (</a:t>
            </a:r>
            <a:r>
              <a:rPr sz="2000" b="0" dirty="0" err="1">
                <a:solidFill>
                  <a:srgbClr val="1A1A1A"/>
                </a:solidFill>
                <a:latin typeface="Times New Roman"/>
              </a:rPr>
              <a:t>NeurIPS</a:t>
            </a:r>
            <a:r>
              <a:rPr sz="2000" b="0" dirty="0">
                <a:solidFill>
                  <a:srgbClr val="1A1A1A"/>
                </a:solidFill>
                <a:latin typeface="Times New Roman"/>
              </a:rPr>
              <a:t>), 2025. arXiv:2502.12110.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36975" y="4289426"/>
            <a:ext cx="6014720" cy="1549400"/>
          </a:xfrm>
          <a:prstGeom prst="rect">
            <a:avLst/>
          </a:prstGeom>
        </p:spPr>
        <p:txBody>
          <a:bodyPr vert="horz" wrap="square" lIns="0" tIns="12700" rIns="0" bIns="0" rtlCol="0">
            <a:spAutoFit/>
          </a:bodyPr>
          <a:lstStyle/>
          <a:p>
            <a:r>
              <a:t>Thank You</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603504"/>
            <a:ext cx="16642080" cy="1371600"/>
          </a:xfrm>
        </p:spPr>
        <p:txBody>
          <a:bodyPr wrap="square" anchor="ctr">
            <a:noAutofit/>
          </a:bodyPr>
          <a:lstStyle/>
          <a:p>
            <a:pPr algn="ctr"/>
            <a:r>
              <a:rPr sz="4200" b="1">
                <a:solidFill>
                  <a:srgbClr val="111111"/>
                </a:solidFill>
                <a:latin typeface="Times New Roman"/>
              </a:rPr>
              <a:t>Backup — Implementation Roadmap</a:t>
            </a:r>
          </a:p>
        </p:txBody>
      </p:sp>
      <p:sp>
        <p:nvSpPr>
          <p:cNvPr id="3" name="TextBox 2"/>
          <p:cNvSpPr txBox="1"/>
          <p:nvPr/>
        </p:nvSpPr>
        <p:spPr>
          <a:xfrm>
            <a:off x="640080" y="1993392"/>
            <a:ext cx="17007840" cy="384048"/>
          </a:xfrm>
          <a:prstGeom prst="rect">
            <a:avLst/>
          </a:prstGeom>
          <a:noFill/>
        </p:spPr>
        <p:txBody>
          <a:bodyPr wrap="square">
            <a:spAutoFit/>
          </a:bodyPr>
          <a:lstStyle/>
          <a:p>
            <a:r>
              <a:rPr sz="1300" i="1">
                <a:solidFill>
                  <a:srgbClr val="6B7683"/>
                </a:solidFill>
                <a:latin typeface="Times New Roman"/>
              </a:rPr>
              <a:t>(Backup slide — shown on request; not part of the main flow.)</a:t>
            </a:r>
          </a:p>
        </p:txBody>
      </p:sp>
      <p:graphicFrame>
        <p:nvGraphicFramePr>
          <p:cNvPr id="4" name="Table 3"/>
          <p:cNvGraphicFramePr>
            <a:graphicFrameLocks noGrp="1"/>
          </p:cNvGraphicFramePr>
          <p:nvPr/>
        </p:nvGraphicFramePr>
        <p:xfrm>
          <a:off x="640080" y="2514600"/>
          <a:ext cx="17007840" cy="658368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7680960">
                  <a:extLst>
                    <a:ext uri="{9D8B030D-6E8A-4147-A177-3AD203B41FA5}">
                      <a16:colId xmlns:a16="http://schemas.microsoft.com/office/drawing/2014/main" val="20002"/>
                    </a:ext>
                  </a:extLst>
                </a:gridCol>
                <a:gridCol w="5486400">
                  <a:extLst>
                    <a:ext uri="{9D8B030D-6E8A-4147-A177-3AD203B41FA5}">
                      <a16:colId xmlns:a16="http://schemas.microsoft.com/office/drawing/2014/main" val="20003"/>
                    </a:ext>
                  </a:extLst>
                </a:gridCol>
              </a:tblGrid>
              <a:tr h="940525">
                <a:tc>
                  <a:txBody>
                    <a:bodyPr/>
                    <a:lstStyle/>
                    <a:p>
                      <a:pPr algn="l">
                        <a:lnSpc>
                          <a:spcPct val="95000"/>
                        </a:lnSpc>
                      </a:pPr>
                      <a:r>
                        <a:rPr sz="1500" b="1">
                          <a:solidFill>
                            <a:srgbClr val="FFFFFF"/>
                          </a:solidFill>
                          <a:latin typeface="Times New Roman"/>
                        </a:rPr>
                        <a:t>Phase</a:t>
                      </a:r>
                    </a:p>
                  </a:txBody>
                  <a:tcPr marL="54864" marR="54864" marT="27432" marB="27432">
                    <a:solidFill>
                      <a:srgbClr val="C1272D"/>
                    </a:solidFill>
                  </a:tcPr>
                </a:tc>
                <a:tc>
                  <a:txBody>
                    <a:bodyPr/>
                    <a:lstStyle/>
                    <a:p>
                      <a:pPr algn="l">
                        <a:lnSpc>
                          <a:spcPct val="95000"/>
                        </a:lnSpc>
                      </a:pPr>
                      <a:r>
                        <a:rPr sz="1500" b="1">
                          <a:solidFill>
                            <a:srgbClr val="FFFFFF"/>
                          </a:solidFill>
                          <a:latin typeface="Times New Roman"/>
                        </a:rPr>
                        <a:t>Timeline</a:t>
                      </a:r>
                    </a:p>
                  </a:txBody>
                  <a:tcPr marL="54864" marR="54864" marT="27432" marB="27432">
                    <a:solidFill>
                      <a:srgbClr val="C1272D"/>
                    </a:solidFill>
                  </a:tcPr>
                </a:tc>
                <a:tc>
                  <a:txBody>
                    <a:bodyPr/>
                    <a:lstStyle/>
                    <a:p>
                      <a:pPr algn="l">
                        <a:lnSpc>
                          <a:spcPct val="95000"/>
                        </a:lnSpc>
                      </a:pPr>
                      <a:r>
                        <a:rPr sz="1500" b="1">
                          <a:solidFill>
                            <a:srgbClr val="FFFFFF"/>
                          </a:solidFill>
                          <a:latin typeface="Times New Roman"/>
                        </a:rPr>
                        <a:t>Focus</a:t>
                      </a:r>
                    </a:p>
                  </a:txBody>
                  <a:tcPr marL="54864" marR="54864" marT="27432" marB="27432">
                    <a:solidFill>
                      <a:srgbClr val="C1272D"/>
                    </a:solidFill>
                  </a:tcPr>
                </a:tc>
                <a:tc>
                  <a:txBody>
                    <a:bodyPr/>
                    <a:lstStyle/>
                    <a:p>
                      <a:pPr algn="l">
                        <a:lnSpc>
                          <a:spcPct val="95000"/>
                        </a:lnSpc>
                      </a:pPr>
                      <a:r>
                        <a:rPr sz="1500" b="1">
                          <a:solidFill>
                            <a:srgbClr val="FFFFFF"/>
                          </a:solidFill>
                          <a:latin typeface="Times New Roman"/>
                        </a:rPr>
                        <a:t>Key deliverable</a:t>
                      </a:r>
                    </a:p>
                  </a:txBody>
                  <a:tcPr marL="54864" marR="54864" marT="27432" marB="27432">
                    <a:solidFill>
                      <a:srgbClr val="C1272D"/>
                    </a:solidFill>
                  </a:tcPr>
                </a:tc>
                <a:extLst>
                  <a:ext uri="{0D108BD9-81ED-4DB2-BD59-A6C34878D82A}">
                    <a16:rowId xmlns:a16="http://schemas.microsoft.com/office/drawing/2014/main" val="10000"/>
                  </a:ext>
                </a:extLst>
              </a:tr>
              <a:tr h="940525">
                <a:tc>
                  <a:txBody>
                    <a:bodyPr/>
                    <a:lstStyle/>
                    <a:p>
                      <a:pPr algn="l">
                        <a:lnSpc>
                          <a:spcPct val="95000"/>
                        </a:lnSpc>
                      </a:pPr>
                      <a:r>
                        <a:rPr sz="1300" b="1">
                          <a:solidFill>
                            <a:srgbClr val="1A1A1A"/>
                          </a:solidFill>
                          <a:latin typeface="Times New Roman"/>
                        </a:rPr>
                        <a:t>Phase 0</a:t>
                      </a:r>
                    </a:p>
                  </a:txBody>
                  <a:tcPr marL="54864" marR="54864" marT="27432" marB="27432">
                    <a:solidFill>
                      <a:srgbClr val="FFFFFF"/>
                    </a:solidFill>
                  </a:tcPr>
                </a:tc>
                <a:tc>
                  <a:txBody>
                    <a:bodyPr/>
                    <a:lstStyle/>
                    <a:p>
                      <a:pPr algn="l">
                        <a:lnSpc>
                          <a:spcPct val="95000"/>
                        </a:lnSpc>
                      </a:pPr>
                      <a:r>
                        <a:rPr sz="1300" b="0">
                          <a:solidFill>
                            <a:srgbClr val="1A1A1A"/>
                          </a:solidFill>
                          <a:latin typeface="Times New Roman"/>
                        </a:rPr>
                        <a:t>Jul – Aug</a:t>
                      </a:r>
                    </a:p>
                  </a:txBody>
                  <a:tcPr marL="54864" marR="54864" marT="27432" marB="27432">
                    <a:solidFill>
                      <a:srgbClr val="FFFFFF"/>
                    </a:solidFill>
                  </a:tcPr>
                </a:tc>
                <a:tc>
                  <a:txBody>
                    <a:bodyPr/>
                    <a:lstStyle/>
                    <a:p>
                      <a:pPr algn="l">
                        <a:lnSpc>
                          <a:spcPct val="95000"/>
                        </a:lnSpc>
                      </a:pPr>
                      <a:r>
                        <a:rPr sz="1300" b="0">
                          <a:solidFill>
                            <a:srgbClr val="1A1A1A"/>
                          </a:solidFill>
                          <a:latin typeface="Times New Roman"/>
                        </a:rPr>
                        <a:t>Literature review, problem finalization, choose datasets (LoCoMo, MSC, LongBench)</a:t>
                      </a:r>
                    </a:p>
                  </a:txBody>
                  <a:tcPr marL="54864" marR="54864" marT="27432" marB="27432">
                    <a:solidFill>
                      <a:srgbClr val="FFFFFF"/>
                    </a:solidFill>
                  </a:tcPr>
                </a:tc>
                <a:tc>
                  <a:txBody>
                    <a:bodyPr/>
                    <a:lstStyle/>
                    <a:p>
                      <a:pPr algn="l">
                        <a:lnSpc>
                          <a:spcPct val="95000"/>
                        </a:lnSpc>
                      </a:pPr>
                      <a:r>
                        <a:rPr sz="1300" b="0">
                          <a:solidFill>
                            <a:srgbClr val="1A1A1A"/>
                          </a:solidFill>
                          <a:latin typeface="Times New Roman"/>
                        </a:rPr>
                        <a:t>Finalized scope and baseline setup</a:t>
                      </a:r>
                    </a:p>
                  </a:txBody>
                  <a:tcPr marL="54864" marR="54864" marT="27432" marB="27432">
                    <a:solidFill>
                      <a:srgbClr val="FFFFFF"/>
                    </a:solidFill>
                  </a:tcPr>
                </a:tc>
                <a:extLst>
                  <a:ext uri="{0D108BD9-81ED-4DB2-BD59-A6C34878D82A}">
                    <a16:rowId xmlns:a16="http://schemas.microsoft.com/office/drawing/2014/main" val="10001"/>
                  </a:ext>
                </a:extLst>
              </a:tr>
              <a:tr h="940525">
                <a:tc>
                  <a:txBody>
                    <a:bodyPr/>
                    <a:lstStyle/>
                    <a:p>
                      <a:pPr algn="l">
                        <a:lnSpc>
                          <a:spcPct val="95000"/>
                        </a:lnSpc>
                      </a:pPr>
                      <a:r>
                        <a:rPr sz="1300" b="1">
                          <a:solidFill>
                            <a:srgbClr val="1A1A1A"/>
                          </a:solidFill>
                          <a:latin typeface="Times New Roman"/>
                        </a:rPr>
                        <a:t>Phase 1</a:t>
                      </a:r>
                    </a:p>
                  </a:txBody>
                  <a:tcPr marL="54864" marR="54864" marT="27432" marB="27432">
                    <a:solidFill>
                      <a:srgbClr val="F4F6F9"/>
                    </a:solidFill>
                  </a:tcPr>
                </a:tc>
                <a:tc>
                  <a:txBody>
                    <a:bodyPr/>
                    <a:lstStyle/>
                    <a:p>
                      <a:pPr algn="l">
                        <a:lnSpc>
                          <a:spcPct val="95000"/>
                        </a:lnSpc>
                      </a:pPr>
                      <a:r>
                        <a:rPr sz="1300" b="0">
                          <a:solidFill>
                            <a:srgbClr val="1A1A1A"/>
                          </a:solidFill>
                          <a:latin typeface="Times New Roman"/>
                        </a:rPr>
                        <a:t>Sep – Oct</a:t>
                      </a:r>
                    </a:p>
                  </a:txBody>
                  <a:tcPr marL="54864" marR="54864" marT="27432" marB="27432">
                    <a:solidFill>
                      <a:srgbClr val="F4F6F9"/>
                    </a:solidFill>
                  </a:tcPr>
                </a:tc>
                <a:tc>
                  <a:txBody>
                    <a:bodyPr/>
                    <a:lstStyle/>
                    <a:p>
                      <a:pPr algn="l">
                        <a:lnSpc>
                          <a:spcPct val="95000"/>
                        </a:lnSpc>
                      </a:pPr>
                      <a:r>
                        <a:rPr sz="1300" b="0">
                          <a:solidFill>
                            <a:srgbClr val="1A1A1A"/>
                          </a:solidFill>
                          <a:latin typeface="Times New Roman"/>
                        </a:rPr>
                        <a:t>Adaptive Memory Decision Engine + compression (keep / summarize / forget)</a:t>
                      </a:r>
                    </a:p>
                  </a:txBody>
                  <a:tcPr marL="54864" marR="54864" marT="27432" marB="27432">
                    <a:solidFill>
                      <a:srgbClr val="F4F6F9"/>
                    </a:solidFill>
                  </a:tcPr>
                </a:tc>
                <a:tc>
                  <a:txBody>
                    <a:bodyPr/>
                    <a:lstStyle/>
                    <a:p>
                      <a:pPr algn="l">
                        <a:lnSpc>
                          <a:spcPct val="95000"/>
                        </a:lnSpc>
                      </a:pPr>
                      <a:r>
                        <a:rPr sz="1300" b="0">
                          <a:solidFill>
                            <a:srgbClr val="1A1A1A"/>
                          </a:solidFill>
                          <a:latin typeface="Times New Roman"/>
                        </a:rPr>
                        <a:t>Scoring and compression on one open model</a:t>
                      </a:r>
                    </a:p>
                  </a:txBody>
                  <a:tcPr marL="54864" marR="54864" marT="27432" marB="27432">
                    <a:solidFill>
                      <a:srgbClr val="F4F6F9"/>
                    </a:solidFill>
                  </a:tcPr>
                </a:tc>
                <a:extLst>
                  <a:ext uri="{0D108BD9-81ED-4DB2-BD59-A6C34878D82A}">
                    <a16:rowId xmlns:a16="http://schemas.microsoft.com/office/drawing/2014/main" val="10002"/>
                  </a:ext>
                </a:extLst>
              </a:tr>
              <a:tr h="940525">
                <a:tc>
                  <a:txBody>
                    <a:bodyPr/>
                    <a:lstStyle/>
                    <a:p>
                      <a:pPr algn="l">
                        <a:lnSpc>
                          <a:spcPct val="95000"/>
                        </a:lnSpc>
                      </a:pPr>
                      <a:r>
                        <a:rPr sz="1300" b="1">
                          <a:solidFill>
                            <a:srgbClr val="1A1A1A"/>
                          </a:solidFill>
                          <a:latin typeface="Times New Roman"/>
                        </a:rPr>
                        <a:t>Phase 2</a:t>
                      </a:r>
                    </a:p>
                  </a:txBody>
                  <a:tcPr marL="54864" marR="54864" marT="27432" marB="27432">
                    <a:solidFill>
                      <a:srgbClr val="FFFFFF"/>
                    </a:solidFill>
                  </a:tcPr>
                </a:tc>
                <a:tc>
                  <a:txBody>
                    <a:bodyPr/>
                    <a:lstStyle/>
                    <a:p>
                      <a:pPr algn="l">
                        <a:lnSpc>
                          <a:spcPct val="95000"/>
                        </a:lnSpc>
                      </a:pPr>
                      <a:r>
                        <a:rPr sz="1300" b="0">
                          <a:solidFill>
                            <a:srgbClr val="1A1A1A"/>
                          </a:solidFill>
                          <a:latin typeface="Times New Roman"/>
                        </a:rPr>
                        <a:t>Oct</a:t>
                      </a:r>
                    </a:p>
                  </a:txBody>
                  <a:tcPr marL="54864" marR="54864" marT="27432" marB="27432">
                    <a:solidFill>
                      <a:srgbClr val="FFFFFF"/>
                    </a:solidFill>
                  </a:tcPr>
                </a:tc>
                <a:tc>
                  <a:txBody>
                    <a:bodyPr/>
                    <a:lstStyle/>
                    <a:p>
                      <a:pPr algn="l">
                        <a:lnSpc>
                          <a:spcPct val="95000"/>
                        </a:lnSpc>
                      </a:pPr>
                      <a:r>
                        <a:rPr sz="1300" b="0">
                          <a:solidFill>
                            <a:srgbClr val="1A1A1A"/>
                          </a:solidFill>
                          <a:latin typeface="Times New Roman"/>
                        </a:rPr>
                        <a:t>Hierarchical store (short / working / long-term) with FAISS or Chroma</a:t>
                      </a:r>
                    </a:p>
                  </a:txBody>
                  <a:tcPr marL="54864" marR="54864" marT="27432" marB="27432">
                    <a:solidFill>
                      <a:srgbClr val="FFFFFF"/>
                    </a:solidFill>
                  </a:tcPr>
                </a:tc>
                <a:tc>
                  <a:txBody>
                    <a:bodyPr/>
                    <a:lstStyle/>
                    <a:p>
                      <a:pPr algn="l">
                        <a:lnSpc>
                          <a:spcPct val="95000"/>
                        </a:lnSpc>
                      </a:pPr>
                      <a:r>
                        <a:rPr sz="1300" b="0">
                          <a:solidFill>
                            <a:srgbClr val="1A1A1A"/>
                          </a:solidFill>
                          <a:latin typeface="Times New Roman"/>
                        </a:rPr>
                        <a:t>Tiered memory with writes</a:t>
                      </a:r>
                    </a:p>
                  </a:txBody>
                  <a:tcPr marL="54864" marR="54864" marT="27432" marB="27432">
                    <a:solidFill>
                      <a:srgbClr val="FFFFFF"/>
                    </a:solidFill>
                  </a:tcPr>
                </a:tc>
                <a:extLst>
                  <a:ext uri="{0D108BD9-81ED-4DB2-BD59-A6C34878D82A}">
                    <a16:rowId xmlns:a16="http://schemas.microsoft.com/office/drawing/2014/main" val="10003"/>
                  </a:ext>
                </a:extLst>
              </a:tr>
              <a:tr h="940525">
                <a:tc>
                  <a:txBody>
                    <a:bodyPr/>
                    <a:lstStyle/>
                    <a:p>
                      <a:pPr algn="l">
                        <a:lnSpc>
                          <a:spcPct val="95000"/>
                        </a:lnSpc>
                      </a:pPr>
                      <a:r>
                        <a:rPr sz="1300" b="1">
                          <a:solidFill>
                            <a:srgbClr val="1A1A1A"/>
                          </a:solidFill>
                          <a:latin typeface="Times New Roman"/>
                        </a:rPr>
                        <a:t>Phase 3</a:t>
                      </a:r>
                    </a:p>
                  </a:txBody>
                  <a:tcPr marL="54864" marR="54864" marT="27432" marB="27432">
                    <a:solidFill>
                      <a:srgbClr val="F4F6F9"/>
                    </a:solidFill>
                  </a:tcPr>
                </a:tc>
                <a:tc>
                  <a:txBody>
                    <a:bodyPr/>
                    <a:lstStyle/>
                    <a:p>
                      <a:pPr algn="l">
                        <a:lnSpc>
                          <a:spcPct val="95000"/>
                        </a:lnSpc>
                      </a:pPr>
                      <a:r>
                        <a:rPr sz="1300" b="0">
                          <a:solidFill>
                            <a:srgbClr val="1A1A1A"/>
                          </a:solidFill>
                          <a:latin typeface="Times New Roman"/>
                        </a:rPr>
                        <a:t>Oct – Nov</a:t>
                      </a:r>
                    </a:p>
                  </a:txBody>
                  <a:tcPr marL="54864" marR="54864" marT="27432" marB="27432">
                    <a:solidFill>
                      <a:srgbClr val="F4F6F9"/>
                    </a:solidFill>
                  </a:tcPr>
                </a:tc>
                <a:tc>
                  <a:txBody>
                    <a:bodyPr/>
                    <a:lstStyle/>
                    <a:p>
                      <a:pPr algn="l">
                        <a:lnSpc>
                          <a:spcPct val="95000"/>
                        </a:lnSpc>
                      </a:pPr>
                      <a:r>
                        <a:rPr sz="1300" b="0">
                          <a:solidFill>
                            <a:srgbClr val="1A1A1A"/>
                          </a:solidFill>
                          <a:latin typeface="Times New Roman"/>
                        </a:rPr>
                        <a:t>Forgetting policy, retriever, and context assembler (token budget)</a:t>
                      </a:r>
                    </a:p>
                  </a:txBody>
                  <a:tcPr marL="54864" marR="54864" marT="27432" marB="27432">
                    <a:solidFill>
                      <a:srgbClr val="F4F6F9"/>
                    </a:solidFill>
                  </a:tcPr>
                </a:tc>
                <a:tc>
                  <a:txBody>
                    <a:bodyPr/>
                    <a:lstStyle/>
                    <a:p>
                      <a:pPr algn="l">
                        <a:lnSpc>
                          <a:spcPct val="95000"/>
                        </a:lnSpc>
                      </a:pPr>
                      <a:r>
                        <a:rPr sz="1300" b="0">
                          <a:solidFill>
                            <a:srgbClr val="1A1A1A"/>
                          </a:solidFill>
                          <a:latin typeface="Times New Roman"/>
                        </a:rPr>
                        <a:t>Full read path with recall</a:t>
                      </a:r>
                    </a:p>
                  </a:txBody>
                  <a:tcPr marL="54864" marR="54864" marT="27432" marB="27432">
                    <a:solidFill>
                      <a:srgbClr val="F4F6F9"/>
                    </a:solidFill>
                  </a:tcPr>
                </a:tc>
                <a:extLst>
                  <a:ext uri="{0D108BD9-81ED-4DB2-BD59-A6C34878D82A}">
                    <a16:rowId xmlns:a16="http://schemas.microsoft.com/office/drawing/2014/main" val="10004"/>
                  </a:ext>
                </a:extLst>
              </a:tr>
              <a:tr h="940525">
                <a:tc>
                  <a:txBody>
                    <a:bodyPr/>
                    <a:lstStyle/>
                    <a:p>
                      <a:pPr algn="l">
                        <a:lnSpc>
                          <a:spcPct val="95000"/>
                        </a:lnSpc>
                      </a:pPr>
                      <a:r>
                        <a:rPr sz="1300" b="1">
                          <a:solidFill>
                            <a:srgbClr val="1A1A1A"/>
                          </a:solidFill>
                          <a:latin typeface="Times New Roman"/>
                        </a:rPr>
                        <a:t>Phase 4</a:t>
                      </a:r>
                    </a:p>
                  </a:txBody>
                  <a:tcPr marL="54864" marR="54864" marT="27432" marB="27432">
                    <a:solidFill>
                      <a:srgbClr val="FFFFFF"/>
                    </a:solidFill>
                  </a:tcPr>
                </a:tc>
                <a:tc>
                  <a:txBody>
                    <a:bodyPr/>
                    <a:lstStyle/>
                    <a:p>
                      <a:pPr algn="l">
                        <a:lnSpc>
                          <a:spcPct val="95000"/>
                        </a:lnSpc>
                      </a:pPr>
                      <a:r>
                        <a:rPr sz="1300" b="0">
                          <a:solidFill>
                            <a:srgbClr val="1A1A1A"/>
                          </a:solidFill>
                          <a:latin typeface="Times New Roman"/>
                        </a:rPr>
                        <a:t>Nov</a:t>
                      </a:r>
                    </a:p>
                  </a:txBody>
                  <a:tcPr marL="54864" marR="54864" marT="27432" marB="27432">
                    <a:solidFill>
                      <a:srgbClr val="FFFFFF"/>
                    </a:solidFill>
                  </a:tcPr>
                </a:tc>
                <a:tc>
                  <a:txBody>
                    <a:bodyPr/>
                    <a:lstStyle/>
                    <a:p>
                      <a:pPr algn="l">
                        <a:lnSpc>
                          <a:spcPct val="95000"/>
                        </a:lnSpc>
                      </a:pPr>
                      <a:r>
                        <a:rPr sz="1300" b="0">
                          <a:solidFill>
                            <a:srgbClr val="1A1A1A"/>
                          </a:solidFill>
                          <a:latin typeface="Times New Roman"/>
                        </a:rPr>
                        <a:t>Integrate open model + hosted API; baselines (sliding window, full history, LLMLingua)</a:t>
                      </a:r>
                    </a:p>
                  </a:txBody>
                  <a:tcPr marL="54864" marR="54864" marT="27432" marB="27432">
                    <a:solidFill>
                      <a:srgbClr val="FFFFFF"/>
                    </a:solidFill>
                  </a:tcPr>
                </a:tc>
                <a:tc>
                  <a:txBody>
                    <a:bodyPr/>
                    <a:lstStyle/>
                    <a:p>
                      <a:pPr algn="l">
                        <a:lnSpc>
                          <a:spcPct val="95000"/>
                        </a:lnSpc>
                      </a:pPr>
                      <a:r>
                        <a:rPr sz="1300" b="0">
                          <a:solidFill>
                            <a:srgbClr val="1A1A1A"/>
                          </a:solidFill>
                          <a:latin typeface="Times New Roman"/>
                        </a:rPr>
                        <a:t>End-to-end agent with baselines</a:t>
                      </a:r>
                    </a:p>
                  </a:txBody>
                  <a:tcPr marL="54864" marR="54864" marT="27432" marB="27432">
                    <a:solidFill>
                      <a:srgbClr val="FFFFFF"/>
                    </a:solidFill>
                  </a:tcPr>
                </a:tc>
                <a:extLst>
                  <a:ext uri="{0D108BD9-81ED-4DB2-BD59-A6C34878D82A}">
                    <a16:rowId xmlns:a16="http://schemas.microsoft.com/office/drawing/2014/main" val="10005"/>
                  </a:ext>
                </a:extLst>
              </a:tr>
              <a:tr h="940530">
                <a:tc>
                  <a:txBody>
                    <a:bodyPr/>
                    <a:lstStyle/>
                    <a:p>
                      <a:pPr algn="l">
                        <a:lnSpc>
                          <a:spcPct val="95000"/>
                        </a:lnSpc>
                      </a:pPr>
                      <a:r>
                        <a:rPr sz="1300" b="1">
                          <a:solidFill>
                            <a:srgbClr val="1A1A1A"/>
                          </a:solidFill>
                          <a:latin typeface="Times New Roman"/>
                        </a:rPr>
                        <a:t>Phase 5</a:t>
                      </a:r>
                    </a:p>
                  </a:txBody>
                  <a:tcPr marL="54864" marR="54864" marT="27432" marB="27432">
                    <a:solidFill>
                      <a:srgbClr val="F4F6F9"/>
                    </a:solidFill>
                  </a:tcPr>
                </a:tc>
                <a:tc>
                  <a:txBody>
                    <a:bodyPr/>
                    <a:lstStyle/>
                    <a:p>
                      <a:pPr algn="l">
                        <a:lnSpc>
                          <a:spcPct val="95000"/>
                        </a:lnSpc>
                      </a:pPr>
                      <a:r>
                        <a:rPr sz="1300" b="0">
                          <a:solidFill>
                            <a:srgbClr val="1A1A1A"/>
                          </a:solidFill>
                          <a:latin typeface="Times New Roman"/>
                        </a:rPr>
                        <a:t>Nov – Dec</a:t>
                      </a:r>
                    </a:p>
                  </a:txBody>
                  <a:tcPr marL="54864" marR="54864" marT="27432" marB="27432">
                    <a:solidFill>
                      <a:srgbClr val="F4F6F9"/>
                    </a:solidFill>
                  </a:tcPr>
                </a:tc>
                <a:tc>
                  <a:txBody>
                    <a:bodyPr/>
                    <a:lstStyle/>
                    <a:p>
                      <a:pPr algn="l">
                        <a:lnSpc>
                          <a:spcPct val="95000"/>
                        </a:lnSpc>
                      </a:pPr>
                      <a:r>
                        <a:rPr sz="1300" b="0">
                          <a:solidFill>
                            <a:srgbClr val="1A1A1A"/>
                          </a:solidFill>
                          <a:latin typeface="Times New Roman"/>
                        </a:rPr>
                        <a:t>Evaluation, ablations, and write-up</a:t>
                      </a:r>
                    </a:p>
                  </a:txBody>
                  <a:tcPr marL="54864" marR="54864" marT="27432" marB="27432">
                    <a:solidFill>
                      <a:srgbClr val="F4F6F9"/>
                    </a:solidFill>
                  </a:tcPr>
                </a:tc>
                <a:tc>
                  <a:txBody>
                    <a:bodyPr/>
                    <a:lstStyle/>
                    <a:p>
                      <a:pPr algn="l">
                        <a:lnSpc>
                          <a:spcPct val="95000"/>
                        </a:lnSpc>
                      </a:pPr>
                      <a:r>
                        <a:rPr sz="1300" b="0" dirty="0">
                          <a:solidFill>
                            <a:srgbClr val="1A1A1A"/>
                          </a:solidFill>
                          <a:latin typeface="Times New Roman"/>
                        </a:rPr>
                        <a:t>Results, report, and final presentation</a:t>
                      </a:r>
                    </a:p>
                  </a:txBody>
                  <a:tcPr marL="54864" marR="54864" marT="27432" marB="27432">
                    <a:solidFill>
                      <a:srgbClr val="F4F6F9"/>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777</TotalTime>
  <Words>2414</Words>
  <Application>Microsoft Macintosh PowerPoint</Application>
  <PresentationFormat>Custom</PresentationFormat>
  <Paragraphs>238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Introduction</vt:lpstr>
      <vt:lpstr>Problem Statement</vt:lpstr>
      <vt:lpstr>Objectives</vt:lpstr>
      <vt:lpstr>Scope of the Project</vt:lpstr>
      <vt:lpstr>Proposed System</vt:lpstr>
      <vt:lpstr>System Architecture</vt:lpstr>
      <vt:lpstr>Implementation Workflow</vt:lpstr>
      <vt:lpstr>Tools &amp; Technology</vt:lpstr>
      <vt:lpstr>Feasibility of Implementation</vt:lpstr>
      <vt:lpstr>Gantt Chart</vt:lpstr>
      <vt:lpstr>Literature Review  (1 of 2)</vt:lpstr>
      <vt:lpstr>Literature Review  (2 of 2)</vt:lpstr>
      <vt:lpstr>References</vt:lpstr>
      <vt:lpstr>Thank You</vt:lpstr>
      <vt:lpstr>Backup — Implementation Roadmap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capstone_review_one</dc:title>
  <dc:creator>Daksh Soni</dc:creator>
  <cp:keywords>DAHPpy2v-1c,BAGJCY0f2j8</cp:keywords>
  <cp:lastModifiedBy>Simar Singh Khanuja</cp:lastModifiedBy>
  <cp:revision>2</cp:revision>
  <dcterms:created xsi:type="dcterms:W3CDTF">2026-07-21T08:42:34Z</dcterms:created>
  <dcterms:modified xsi:type="dcterms:W3CDTF">2026-07-25T07:20:46Z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2026-07-21T00:00:00Z</vt:filetime>
  </property>
  <property fmtid="{D5CDD505-2E9C-101B-9397-08002B2CF9AE}" pid="3" name="Creator">
    <vt:lpwstr>Canva</vt:lpwstr>
  </property>
  <property fmtid="{D5CDD505-2E9C-101B-9397-08002B2CF9AE}" pid="4" name="LastSaved">
    <vt:filetime>2026-07-21T00:00:00Z</vt:filetime>
  </property>
  <property fmtid="{D5CDD505-2E9C-101B-9397-08002B2CF9AE}" pid="5" name="Producer">
    <vt:lpwstr>3-Heights(TM) PDF Security Shell 4.8.25.2 (http://www.pdf-tools.com)</vt:lpwstr>
  </property>
</Properties>
</file>